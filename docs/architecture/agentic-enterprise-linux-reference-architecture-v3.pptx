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dd90b957b742b3" /><Relationship Type="http://schemas.openxmlformats.org/officeDocument/2006/relationships/extended-properties" Target="/docProps/app.xml" Id="Ra635a31566634ab8" /><Relationship Type="http://schemas.openxmlformats.org/officeDocument/2006/relationships/officeDocument" Target="/ppt/presentation.xml" Id="Rb37a5429b84949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9e9667a5404cc7"/>
  </p:sldMasterIdLst>
  <p:notesMasterIdLst>
    <p:notesMasterId xmlns:r="http://schemas.openxmlformats.org/officeDocument/2006/relationships" r:id="R64cb7550010e44d3"/>
  </p:notesMasterIdLst>
  <p:sldIdLst>
    <p:sldId xmlns:r="http://schemas.openxmlformats.org/officeDocument/2006/relationships" id="256" r:id="R12ab405163c547e9"/>
    <p:sldId xmlns:r="http://schemas.openxmlformats.org/officeDocument/2006/relationships" id="257" r:id="R0d3fed86065144ae"/>
    <p:sldId xmlns:r="http://schemas.openxmlformats.org/officeDocument/2006/relationships" id="258" r:id="R2b2aed6662eb4ba6"/>
    <p:sldId xmlns:r="http://schemas.openxmlformats.org/officeDocument/2006/relationships" id="259" r:id="R4c4e015a68bb4d46"/>
    <p:sldId xmlns:r="http://schemas.openxmlformats.org/officeDocument/2006/relationships" id="260" r:id="R1c0cd2816ed248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dcb634c80947c6" /><Relationship Type="http://schemas.openxmlformats.org/officeDocument/2006/relationships/slideMaster" Target="/ppt/slideMasters/slideMaster1.xml" Id="Rc79e9667a5404cc7" /><Relationship Type="http://schemas.openxmlformats.org/officeDocument/2006/relationships/notesMaster" Target="/ppt/notesMasters/notesMaster1.xml" Id="R64cb7550010e44d3" /><Relationship Type="http://schemas.openxmlformats.org/officeDocument/2006/relationships/presProps" Target="/ppt/presProps.xml" Id="R5e7b3db20c0e4bd7" /><Relationship Type="http://schemas.openxmlformats.org/officeDocument/2006/relationships/tableStyles" Target="/ppt/tableStyles.xml" Id="R56c4a1e781584dd9" /><Relationship Type="http://schemas.openxmlformats.org/officeDocument/2006/relationships/slide" Target="/ppt/slides/slide1.xml" Id="R12ab405163c547e9" /><Relationship Type="http://schemas.openxmlformats.org/officeDocument/2006/relationships/slide" Target="/ppt/slides/slide2.xml" Id="R0d3fed86065144ae" /><Relationship Type="http://schemas.openxmlformats.org/officeDocument/2006/relationships/slide" Target="/ppt/slides/slide3.xml" Id="R2b2aed6662eb4ba6" /><Relationship Type="http://schemas.openxmlformats.org/officeDocument/2006/relationships/slide" Target="/ppt/slides/slide4.xml" Id="R4c4e015a68bb4d46" /><Relationship Type="http://schemas.openxmlformats.org/officeDocument/2006/relationships/slide" Target="/ppt/slides/slide5.xml" Id="R1c0cd2816ed248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ef05a80b8548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ae27f19dd84fed" /><Relationship Type="http://schemas.openxmlformats.org/officeDocument/2006/relationships/notesMaster" Target="/ppt/notesMasters/notesMaster1.xml" Id="Rcfd3646d32d642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674f7ae48747bc" /><Relationship Type="http://schemas.openxmlformats.org/officeDocument/2006/relationships/notesMaster" Target="/ppt/notesMasters/notesMaster1.xml" Id="R8bf7951cbbd34b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5d442ca5f944a3" /><Relationship Type="http://schemas.openxmlformats.org/officeDocument/2006/relationships/notesMaster" Target="/ppt/notesMasters/notesMaster1.xml" Id="Rc7a4da3da50d4e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45e6a5a34349cd" /><Relationship Type="http://schemas.openxmlformats.org/officeDocument/2006/relationships/notesMaster" Target="/ppt/notesMasters/notesMaster1.xml" Id="R041f42482bd14b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a42987237e4174" /><Relationship Type="http://schemas.openxmlformats.org/officeDocument/2006/relationships/notesMaster" Target="/ppt/notesMasters/notesMaster1.xml" Id="R766af7012eed46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intent:</a:t>
            </a:r>
          </a:p>
          <a:p xmlns:a="http://schemas.openxmlformats.org/drawingml/2006/main">
            <a:r>
              <a:t>- SUSE Multi-Linux Manager remains the authoritative fleet control plane.</a:t>
            </a:r>
          </a:p>
          <a:p xmlns:a="http://schemas.openxmlformats.org/drawingml/2006/main">
            <a:r>
              <a:t>- Hermes runs inside an OpenShell policy sandbox and selects a fast planning model or deeper diagnostic model.</a:t>
            </a:r>
          </a:p>
          <a:p xmlns:a="http://schemas.openxmlformats.org/drawingml/2006/main">
            <a:r>
              <a:t>- Broad fleet operations use the Uyuni / SUSE Multi-Linux Manager MCP server.</a:t>
            </a:r>
          </a:p>
          <a:p xmlns:a="http://schemas.openxmlformats.org/drawingml/2006/main">
            <a:r>
              <a:t>- A direct SLES 16 MCP path is optional, narrowly permissioned, and technology preview.</a:t>
            </a:r>
          </a:p>
          <a:p xmlns:a="http://schemas.openxmlformats.org/drawingml/2006/main">
            <a:r>
              <a:t>- State-changing tools require ticket/approval, bounded targets, verification, and rollback.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https://github.com/NVIDIA/OpenShell</a:t>
            </a:r>
          </a:p>
          <a:p xmlns:a="http://schemas.openxmlformats.org/drawingml/2006/main">
            <a:r>
              <a:t>- https://github.com/NVIDIA/OpenShell/blob/main/architecture/sandbox.md</a:t>
            </a:r>
          </a:p>
          <a:p xmlns:a="http://schemas.openxmlformats.org/drawingml/2006/main">
            <a:r>
              <a:t>- https://github.com/NousResearch/hermes-agent/blob/main/SECURITY.md</a:t>
            </a:r>
          </a:p>
          <a:p xmlns:a="http://schemas.openxmlformats.org/drawingml/2006/main">
            <a:r>
              <a:t>- https://github.com/NousResearch/hermes-agent/blob/main/website/docs/reference/cli-commands.md</a:t>
            </a:r>
          </a:p>
          <a:p xmlns:a="http://schemas.openxmlformats.org/drawingml/2006/main">
            <a:r>
              <a:t>- https://build.nvidia.com/nvidia/nemotron-3.5-lightning-30b-a3b/modelcard</a:t>
            </a:r>
          </a:p>
          <a:p xmlns:a="http://schemas.openxmlformats.org/drawingml/2006/main">
            <a:r>
              <a:t>- https://huggingface.co/Qwen/models</a:t>
            </a:r>
          </a:p>
          <a:p xmlns:a="http://schemas.openxmlformats.org/drawingml/2006/main">
            <a:r>
              <a:t>- https://www.suse.com/products/multi-linux-manager/</a:t>
            </a:r>
          </a:p>
          <a:p xmlns:a="http://schemas.openxmlformats.org/drawingml/2006/main">
            <a:r>
              <a:t>- https://github.com/uyuni-project/mcp-server-uyuni/blob/main/README.md</a:t>
            </a:r>
          </a:p>
          <a:p xmlns:a="http://schemas.openxmlformats.org/drawingml/2006/main">
            <a:r>
              <a:t>- https://documentation.suse.com/releasenotes/sles/16.0/index.html</a:t>
            </a:r>
          </a:p>
          <a:p xmlns:a="http://schemas.openxmlformats.org/drawingml/2006/main">
            <a:r>
              <a:t>- https://www.suse.com/c/ai-assisted-infrastructure-at-scale/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intent:</a:t>
            </a:r>
          </a:p>
          <a:p xmlns:a="http://schemas.openxmlformats.org/drawingml/2006/main">
            <a:r>
              <a:t>- SUSE AI Factory with NVIDIA is shown as a management plane plus dedicated AI workload and data/fleet services.</a:t>
            </a:r>
          </a:p>
          <a:p xmlns:a="http://schemas.openxmlformats.org/drawingml/2006/main">
            <a:r>
              <a:t>- Rancher Prime, RKE2/K3s, Fleet GitOps, the AI Factory operator/UI, AI Library, and immutable blueprints provide the SUSE lifecycle layer.</a:t>
            </a:r>
          </a:p>
          <a:p xmlns:a="http://schemas.openxmlformats.org/drawingml/2006/main">
            <a:r>
              <a:t>- NVIDIA AI Enterprise services include NIM microservices, NIM/GPU/Network Operators, Run:ai, NeMo Agent Toolkit, Switchyard, Guardrails, Retriever, and evaluation.</a:t>
            </a:r>
          </a:p>
          <a:p xmlns:a="http://schemas.openxmlformats.org/drawingml/2006/main">
            <a:r>
              <a:t>- "Function library" is represented by NeMo Agent Toolkit functions and function groups.</a:t>
            </a:r>
          </a:p>
          <a:p xmlns:a="http://schemas.openxmlformats.org/drawingml/2006/main">
            <a:r>
              <a:t>- Qdrant and Milvus are example vector databases documented in SUSE AI Factory building blocks; OpenSearch is shown for hybrid search.</a:t>
            </a:r>
          </a:p>
          <a:p xmlns:a="http://schemas.openxmlformats.org/drawingml/2006/main">
            <a:r>
              <a:t>- SUSE Security and SUSE Observability are cross-cutting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https://www.suse.com/products/ai/factory-with-nvidia/</a:t>
            </a:r>
          </a:p>
          <a:p xmlns:a="http://schemas.openxmlformats.org/drawingml/2006/main">
            <a:r>
              <a:t>- https://www.suse.com/c/introducing-suse-ai-factory-with-nvidia/</a:t>
            </a:r>
          </a:p>
          <a:p xmlns:a="http://schemas.openxmlformats.org/drawingml/2006/main">
            <a:r>
              <a:t>- https://documentation.suse.com/suse-ai-factory/latest/html/AI-Factory-introduction/aif-building-blocks.html</a:t>
            </a:r>
          </a:p>
          <a:p xmlns:a="http://schemas.openxmlformats.org/drawingml/2006/main">
            <a:r>
              <a:t>- https://documentation.suse.com/suse-ai-factory/latest/html/AI-Factory-deployment/aif-deployment-prepare.html</a:t>
            </a:r>
          </a:p>
          <a:p xmlns:a="http://schemas.openxmlformats.org/drawingml/2006/main">
            <a:r>
              <a:t>- https://documentation.suse.com/suse-ai/1.0/html/AI-deployment/ai-library-installing.html</a:t>
            </a:r>
          </a:p>
          <a:p xmlns:a="http://schemas.openxmlformats.org/drawingml/2006/main">
            <a:r>
              <a:t>- https://docs.nvidia.com/nim-operator/latest/</a:t>
            </a:r>
          </a:p>
          <a:p xmlns:a="http://schemas.openxmlformats.org/drawingml/2006/main">
            <a:r>
              <a:t>- https://docs.nvidia.com/run-ai/</a:t>
            </a:r>
          </a:p>
          <a:p xmlns:a="http://schemas.openxmlformats.org/drawingml/2006/main">
            <a:r>
              <a:t>- https://docs.nvidia.com/nemo/agent-toolkit/latest/</a:t>
            </a:r>
          </a:p>
          <a:p xmlns:a="http://schemas.openxmlformats.org/drawingml/2006/main">
            <a:r>
              <a:t>- https://docs.nvidia.com/nemo/agent-toolkit/latest/build-workflows/functions-and-function-groups/functions.html</a:t>
            </a:r>
          </a:p>
          <a:p xmlns:a="http://schemas.openxmlformats.org/drawingml/2006/main">
            <a:r>
              <a:t>- https://docs.nvidia.com/nemo/gym/model-server/switchyard/</a:t>
            </a:r>
          </a:p>
          <a:p xmlns:a="http://schemas.openxmlformats.org/drawingml/2006/main">
            <a:r>
              <a:t>- https://docs.nvidia.com/nemo/retriever/</a:t>
            </a:r>
          </a:p>
          <a:p xmlns:a="http://schemas.openxmlformats.org/drawingml/2006/main">
            <a:r>
              <a:t>- https://docs.nvidia.com/nemo/microservices/latest/guardrails/running-inference.html</a:t>
            </a:r>
          </a:p>
          <a:p xmlns:a="http://schemas.openxmlformats.org/drawingml/2006/main">
            <a:r>
              <a:t>- https://github.com/NVIDIA/OpenShell</a:t>
            </a:r>
          </a:p>
          <a:p xmlns:a="http://schemas.openxmlformats.org/drawingml/2006/main">
            <a:r>
              <a:t>- https://build.nvidia.com/nvidia/nemotron-3.5-lightning-30b-a3b/modelcard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model:</a:t>
            </a:r>
          </a:p>
          <a:p xmlns:a="http://schemas.openxmlformats.org/drawingml/2006/main">
            <a:r>
              <a:t>- Signals originate in SUSE Observability, SUSE Security, and ITSM.</a:t>
            </a:r>
          </a:p>
          <a:p xmlns:a="http://schemas.openxmlformats.org/drawingml/2006/main">
            <a:r>
              <a:t>- Retrieval grounds the agent in topology, telemetry, CVEs, system state, and enterprise knowledge stored in vector/search services.</a:t>
            </a:r>
          </a:p>
          <a:p xmlns:a="http://schemas.openxmlformats.org/drawingml/2006/main">
            <a:r>
              <a:t>- Hermes and NeMo Agent Toolkit functions run inside the OpenShell policy sandbox.</a:t>
            </a:r>
          </a:p>
          <a:p xmlns:a="http://schemas.openxmlformats.org/drawingml/2006/main">
            <a:r>
              <a:t>- SUSE AI Universal Proxy, NeMo Switchyard, Guardrails, and NIM provide MCP governance, model routing, safety, and inference.</a:t>
            </a:r>
          </a:p>
          <a:p xmlns:a="http://schemas.openxmlformats.org/drawingml/2006/main">
            <a:r>
              <a:t>- The production path uses the SUSE Multi-Linux Manager / Uyuni MCP server for fleet changes.</a:t>
            </a:r>
          </a:p>
          <a:p xmlns:a="http://schemas.openxmlformats.org/drawingml/2006/main">
            <a:r>
              <a:t>- The direct SLES 16 MCP host path is optional, narrowly scoped, and technology preview.</a:t>
            </a:r>
          </a:p>
          <a:p xmlns:a="http://schemas.openxmlformats.org/drawingml/2006/main">
            <a:r>
              <a:t>- Writes require explicit approval and verification; write-capable Uyuni MCP tools can remain disabled until enabled by policy.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https://www.suse.com/products/multi-linux-manager/</a:t>
            </a:r>
          </a:p>
          <a:p xmlns:a="http://schemas.openxmlformats.org/drawingml/2006/main">
            <a:r>
              <a:t>- https://github.com/uyuni-project/mcp-server-uyuni/blob/main/README.md</a:t>
            </a:r>
          </a:p>
          <a:p xmlns:a="http://schemas.openxmlformats.org/drawingml/2006/main">
            <a:r>
              <a:t>- https://documentation.suse.com/releasenotes/sles/16.0/index.html</a:t>
            </a:r>
          </a:p>
          <a:p xmlns:a="http://schemas.openxmlformats.org/drawingml/2006/main">
            <a:r>
              <a:t>- https://www.suse.com/news/suse-delivers-simplicity-security-and-deeper-observability-for-ai-workloads/</a:t>
            </a:r>
          </a:p>
          <a:p xmlns:a="http://schemas.openxmlformats.org/drawingml/2006/main">
            <a:r>
              <a:t>- https://www.suse.com/c/ai-assisted-infrastructure-at-scale/</a:t>
            </a:r>
          </a:p>
          <a:p xmlns:a="http://schemas.openxmlformats.org/drawingml/2006/main">
            <a:r>
              <a:t>- https://documentation.suse.com/cloudnative/security/index.html</a:t>
            </a:r>
          </a:p>
          <a:p xmlns:a="http://schemas.openxmlformats.org/drawingml/2006/main">
            <a:r>
              <a:t>- https://www.suse.com/products/rancher/observability/</a:t>
            </a:r>
          </a:p>
          <a:p xmlns:a="http://schemas.openxmlformats.org/drawingml/2006/main">
            <a:r>
              <a:t>- https://documentation.suse.com/cloudnative/suse-observability/latest/en/setup/otel/overview.html</a:t>
            </a:r>
          </a:p>
          <a:p xmlns:a="http://schemas.openxmlformats.org/drawingml/2006/main">
            <a:r>
              <a:t>- https://github.com/NVIDIA/OpenShell/blob/main/architecture/sandbox.md</a:t>
            </a:r>
          </a:p>
          <a:p xmlns:a="http://schemas.openxmlformats.org/drawingml/2006/main">
            <a:r>
              <a:t>- https://docs.nvidia.com/nemo/agent-toolkit/latest/build-workflows/functions-and-function-groups/functions.html</a:t>
            </a:r>
          </a:p>
          <a:p xmlns:a="http://schemas.openxmlformats.org/drawingml/2006/main">
            <a:r>
              <a:t>- https://developer.nvidia.com/blog/route-ai-agent-workloads-across-models-with-nvidia-nemo-switchyard</a:t>
            </a:r>
          </a:p>
          <a:p xmlns:a="http://schemas.openxmlformats.org/drawingml/2006/main">
            <a:r>
              <a:t>- https://docs.nvidia.com/nemo/microservices/latest/guardrails/running-inference.html</a:t>
            </a:r>
          </a:p>
          <a:p xmlns:a="http://schemas.openxmlformats.org/drawingml/2006/main">
            <a:r>
              <a:t>- https://docs.nvidia.com/nim-operator/latest/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guidance:</a:t>
            </a:r>
          </a:p>
          <a:p xmlns:a="http://schemas.openxmlformats.org/drawingml/2006/main">
            <a:r>
              <a:t>- Keep the Rancher Prime / AI Factory management cluster separate from AI Library workloads and the SUSE Observability cluster for production.</a:t>
            </a:r>
          </a:p>
          <a:p xmlns:a="http://schemas.openxmlformats.org/drawingml/2006/main">
            <a:r>
              <a:t>- Install SUSE Security controllers/managers/scanners centrally and an Enforcer on each protected Kubernetes node.</a:t>
            </a:r>
          </a:p>
          <a:p xmlns:a="http://schemas.openxmlformats.org/drawingml/2006/main">
            <a:r>
              <a:t>- Run OpenShell as gateway plus sandbox supervisor; Hermes is the restricted agent child.</a:t>
            </a:r>
          </a:p>
          <a:p xmlns:a="http://schemas.openxmlformats.org/drawingml/2006/main">
            <a:r>
              <a:t>- NeMo Agent Toolkit function groups expose typed internal tools and MCP clients.</a:t>
            </a:r>
          </a:p>
          <a:p xmlns:a="http://schemas.openxmlformats.org/drawingml/2006/main">
            <a:r>
              <a:t>- Route Nemotron 3.5 Lightning through a NIMService managed by NIM Operator. Serve Qwen 3.8 through a validated vLLM or SUSE Inference Endpoint unless a supported NIM profile is available.</a:t>
            </a:r>
          </a:p>
          <a:p xmlns:a="http://schemas.openxmlformats.org/drawingml/2006/main">
            <a:r>
              <a:t>- NIMCache and NIMService custom resources separate model staging from service lifecycle.</a:t>
            </a:r>
          </a:p>
          <a:p xmlns:a="http://schemas.openxmlformats.org/drawingml/2006/main">
            <a:r>
              <a:t>- Keep vector/search/object stores on encrypted persistent storage with tested backup/restore.</a:t>
            </a:r>
          </a:p>
          <a:p xmlns:a="http://schemas.openxmlformats.org/drawingml/2006/main">
            <a:r>
              <a:t>- Export application, model, MCP, Kubernetes, and host telemetry through local OTel collectors to SUSE Observability.</a:t>
            </a:r>
          </a:p>
          <a:p xmlns:a="http://schemas.openxmlformats.org/drawingml/2006/main">
            <a:r>
              <a:t>- Keep Uyuni MCP write tools disabled by default; require OAuth/mTLS and least-privilege roles before enabling bounded write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https://documentation.suse.com/suse-ai-factory/latest/html/AI-Factory-introduction/aif-building-blocks.html</a:t>
            </a:r>
          </a:p>
          <a:p xmlns:a="http://schemas.openxmlformats.org/drawingml/2006/main">
            <a:r>
              <a:t>- https://documentation.suse.com/suse-ai-factory/latest/html/AI-Factory-deployment/aif-deployment-prepare.html</a:t>
            </a:r>
          </a:p>
          <a:p xmlns:a="http://schemas.openxmlformats.org/drawingml/2006/main">
            <a:r>
              <a:t>- https://documentation.suse.com/suse-ai-factory/latest/html/AI-Factory-usage/ai-factory-managing-blueprints.html</a:t>
            </a:r>
          </a:p>
          <a:p xmlns:a="http://schemas.openxmlformats.org/drawingml/2006/main">
            <a:r>
              <a:t>- https://docs.nvidia.com/nim-operator/latest/</a:t>
            </a:r>
          </a:p>
          <a:p xmlns:a="http://schemas.openxmlformats.org/drawingml/2006/main">
            <a:r>
              <a:t>- https://docs.nvidia.com/nim/large-language-models/latest/deployment/kubernetes-deployment/nim-operator-deployment.html</a:t>
            </a:r>
          </a:p>
          <a:p xmlns:a="http://schemas.openxmlformats.org/drawingml/2006/main">
            <a:r>
              <a:t>- https://github.com/NVIDIA/OpenShell/blob/main/architecture/README.md</a:t>
            </a:r>
          </a:p>
          <a:p xmlns:a="http://schemas.openxmlformats.org/drawingml/2006/main">
            <a:r>
              <a:t>- https://github.com/NVIDIA/OpenShell/blob/main/architecture/sandbox.md</a:t>
            </a:r>
          </a:p>
          <a:p xmlns:a="http://schemas.openxmlformats.org/drawingml/2006/main">
            <a:r>
              <a:t>- https://docs.nvidia.com/nemo/agent-toolkit/latest/extend/custom-components/custom-functions/function-groups.html</a:t>
            </a:r>
          </a:p>
          <a:p xmlns:a="http://schemas.openxmlformats.org/drawingml/2006/main">
            <a:r>
              <a:t>- https://docs.nvidia.com/nemo/gym/model-server/switchyard/</a:t>
            </a:r>
          </a:p>
          <a:p xmlns:a="http://schemas.openxmlformats.org/drawingml/2006/main">
            <a:r>
              <a:t>- https://documentation.suse.com/cloudnative/security/5.5/en/overview.html</a:t>
            </a:r>
          </a:p>
          <a:p xmlns:a="http://schemas.openxmlformats.org/drawingml/2006/main">
            <a:r>
              <a:t>- https://documentation.suse.com/cloudnative/suse-observability/latest/en/setup/otel/collector.html</a:t>
            </a:r>
          </a:p>
          <a:p xmlns:a="http://schemas.openxmlformats.org/drawingml/2006/main">
            <a:r>
              <a:t>- https://github.com/uyuni-project/mcp-server-uyuni/blob/main/README.md</a:t>
            </a:r>
          </a:p>
          <a:p xmlns:a="http://schemas.openxmlformats.org/drawingml/2006/main">
            <a:r>
              <a:t>- https://documentation.suse.com/releasenotes/sles/html/releasenotes_sles_16.0/index.html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sequence:</a:t>
            </a:r>
          </a:p>
          <a:p xmlns:a="http://schemas.openxmlformats.org/drawingml/2006/main">
            <a:r>
              <a:t>- Phase 0 freezes architecture inputs and ownership.</a:t>
            </a:r>
          </a:p>
          <a:p xmlns:a="http://schemas.openxmlformats.org/drawingml/2006/main">
            <a:r>
              <a:t>- Phase 1 establishes recoverable cluster foundations.</a:t>
            </a:r>
          </a:p>
          <a:p xmlns:a="http://schemas.openxmlformats.org/drawingml/2006/main">
            <a:r>
              <a:t>- Phase 2 installs security and observability before application workloads.</a:t>
            </a:r>
          </a:p>
          <a:p xmlns:a="http://schemas.openxmlformats.org/drawingml/2006/main">
            <a:r>
              <a:t>- Phase 3 validates GPU and NIM lifecycle.</a:t>
            </a:r>
          </a:p>
          <a:p xmlns:a="http://schemas.openxmlformats.org/drawingml/2006/main">
            <a:r>
              <a:t>- Phase 4 establishes persistent data services and recovery.</a:t>
            </a:r>
          </a:p>
          <a:p xmlns:a="http://schemas.openxmlformats.org/drawingml/2006/main">
            <a:r>
              <a:t>- Phase 5 validates model endpoints and routing.</a:t>
            </a:r>
          </a:p>
          <a:p xmlns:a="http://schemas.openxmlformats.org/drawingml/2006/main">
            <a:r>
              <a:t>- Phase 6 proves agent policy containment and tool controls.</a:t>
            </a:r>
          </a:p>
          <a:p xmlns:a="http://schemas.openxmlformats.org/drawingml/2006/main">
            <a:r>
              <a:t>- Phase 7 integrates Multi-Linux Manager first as read-only, then enables bounded writes only after canary verification and rollback.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https://documentation.suse.com/suse-ai-factory/latest/html/AI-Factory-deployment/aif-deployment-prepare.html</a:t>
            </a:r>
          </a:p>
          <a:p xmlns:a="http://schemas.openxmlformats.org/drawingml/2006/main">
            <a:r>
              <a:t>- https://documentation.suse.com/suse-ai-factory/latest/html/AI-Factory-introduction/aif-building-blocks.html</a:t>
            </a:r>
          </a:p>
          <a:p xmlns:a="http://schemas.openxmlformats.org/drawingml/2006/main">
            <a:r>
              <a:t>- https://docs.nvidia.com/nim-operator/latest/</a:t>
            </a:r>
          </a:p>
          <a:p xmlns:a="http://schemas.openxmlformats.org/drawingml/2006/main">
            <a:r>
              <a:t>- https://github.com/NVIDIA/OpenShell/blob/main/architecture/sandbox.md</a:t>
            </a:r>
          </a:p>
          <a:p xmlns:a="http://schemas.openxmlformats.org/drawingml/2006/main">
            <a:r>
              <a:t>- https://documentation.suse.com/cloudnative/security/5.5/en/overview.html</a:t>
            </a:r>
          </a:p>
          <a:p xmlns:a="http://schemas.openxmlformats.org/drawingml/2006/main">
            <a:r>
              <a:t>- https://documentation.suse.com/cloudnative/suse-observability/latest/en/setup/otel/collector.html</a:t>
            </a:r>
          </a:p>
          <a:p xmlns:a="http://schemas.openxmlformats.org/drawingml/2006/main">
            <a:r>
              <a:t>- https://github.com/uyuni-project/mcp-server-uyuni/blob/main/README.md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ff039ed1024e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550de69cc84da2" /><Relationship Type="http://schemas.openxmlformats.org/officeDocument/2006/relationships/slideLayout" Target="/ppt/slideLayouts/slideLayout1.xml" Id="R8770cf94bfe84c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70cf94bfe84c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c660ecfe846c1" /><Relationship Type="http://schemas.openxmlformats.org/officeDocument/2006/relationships/notesSlide" Target="/ppt/notesSlides/notesSlide1.xml" Id="R01a9aceb9ef348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7a25574e94f52" /><Relationship Type="http://schemas.openxmlformats.org/officeDocument/2006/relationships/notesSlide" Target="/ppt/notesSlides/notesSlide2.xml" Id="R08df523ed3884a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7edabb93d40d1" /><Relationship Type="http://schemas.openxmlformats.org/officeDocument/2006/relationships/notesSlide" Target="/ppt/notesSlides/notesSlide3.xml" Id="Rb33c50ea1c984d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a93c086464cc6" /><Relationship Type="http://schemas.openxmlformats.org/officeDocument/2006/relationships/notesSlide" Target="/ppt/notesSlides/notesSlide4.xml" Id="Rccaa7b2a30734a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1bf5e74844277" /><Relationship Type="http://schemas.openxmlformats.org/officeDocument/2006/relationships/notesSlide" Target="/ppt/notesSlides/notesSlide5.xml" Id="R7f259c0fe2eb40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6F547B-691F-43F5-88E7-FEB1259A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Governed AI makes Linux operations conversational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FBBEFDE-8E1C-4694-A802-EFCEB133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95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Reference architecture for heterogeneous enterprise Linux — fleet operations plus opt-in, per-host diagnosis</a:t>
            </a:r>
          </a:p>
        </p:txBody>
      </p:sp>
      <p:sp>
        <p:nvSpPr>
          <p:cNvPr id="3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34DA2B17-DA7A-4F8A-85F3-C46B00C1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33450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9F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B9FD4"/>
                </a:solidFill>
                <a:latin typeface="Helvetica Neue"/>
                <a:ea typeface="Helvetica Neue"/>
                <a:cs typeface="Helvetica Neue"/>
              </a:rPr>
              <a:t>REFERENCE ARCHITECTURE  •  2026</a:t>
            </a:r>
          </a:p>
        </p:txBody>
      </p:sp>
      <p:sp>
        <p:nvSpPr>
          <p:cNvPr id="4" name="ops-heading">
            <a:extLst xmlns:a="http://schemas.openxmlformats.org/drawingml/2006/main">
              <a:ext uri="{FF2B5EF4-FFF2-40B4-BE49-F238E27FC236}">
                <a16:creationId xmlns:a16="http://schemas.microsoft.com/office/drawing/2014/main" id="{26973304-9772-45C0-B9EB-CE51FDD6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8112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1  OPERATIONS &amp; GOVERNANCE</a:t>
            </a:r>
          </a:p>
        </p:txBody>
      </p:sp>
      <p:sp>
        <p:nvSpPr>
          <p:cNvPr id="5" name="agent-heading">
            <a:extLst xmlns:a="http://schemas.openxmlformats.org/drawingml/2006/main">
              <a:ext uri="{FF2B5EF4-FFF2-40B4-BE49-F238E27FC236}">
                <a16:creationId xmlns:a16="http://schemas.microsoft.com/office/drawing/2014/main" id="{D54AC91B-C8EF-4949-B874-968E171D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8112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2  AGENT CONTROL PLANE</a:t>
            </a:r>
          </a:p>
        </p:txBody>
      </p:sp>
      <p:sp>
        <p:nvSpPr>
          <p:cNvPr id="6" name="estate-heading">
            <a:extLst xmlns:a="http://schemas.openxmlformats.org/drawingml/2006/main">
              <a:ext uri="{FF2B5EF4-FFF2-40B4-BE49-F238E27FC236}">
                <a16:creationId xmlns:a16="http://schemas.microsoft.com/office/drawing/2014/main" id="{19A75D83-9BEB-4B8C-B481-48A2C29B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8112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3  MANAGEMENT &amp; ESTATE</a:t>
            </a:r>
          </a:p>
        </p:txBody>
      </p:sp>
      <p:sp>
        <p:nvSpPr>
          <p:cNvPr id="7" name="operator">
            <a:extLst xmlns:a="http://schemas.openxmlformats.org/drawingml/2006/main">
              <a:ext uri="{FF2B5EF4-FFF2-40B4-BE49-F238E27FC236}">
                <a16:creationId xmlns:a16="http://schemas.microsoft.com/office/drawing/2014/main" id="{8096B580-45AA-419F-8305-3A2909B1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09750"/>
            <a:ext cx="2238375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8E892-AA8C-4E1E-B041-B964BD27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0975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FD4"/>
          </a:solidFill>
          <a:ln xmlns:a="http://schemas.openxmlformats.org/drawingml/2006/main" w="0">
            <a:solidFill>
              <a:srgbClr val="0B9FD4"/>
            </a:solidFill>
            <a:prstDash val="solid"/>
          </a:ln>
        </p:spPr>
      </p:sp>
      <p:sp>
        <p:nvSpPr>
          <p:cNvPr id="9" name="operator-title">
            <a:extLst xmlns:a="http://schemas.openxmlformats.org/drawingml/2006/main">
              <a:ext uri="{FF2B5EF4-FFF2-40B4-BE49-F238E27FC236}">
                <a16:creationId xmlns:a16="http://schemas.microsoft.com/office/drawing/2014/main" id="{93A767B5-DF91-4C64-BAC5-912D28C5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14525"/>
            <a:ext cx="1933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Ops portal / ITSM</a:t>
            </a:r>
          </a:p>
        </p:txBody>
      </p:sp>
      <p:sp>
        <p:nvSpPr>
          <p:cNvPr id="10" name="operator-body">
            <a:extLst xmlns:a="http://schemas.openxmlformats.org/drawingml/2006/main">
              <a:ext uri="{FF2B5EF4-FFF2-40B4-BE49-F238E27FC236}">
                <a16:creationId xmlns:a16="http://schemas.microsoft.com/office/drawing/2014/main" id="{5BC28924-110E-45B0-A507-1FF308C1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09800"/>
            <a:ext cx="1933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Natural-language request, incident context, maintenance window</a:t>
            </a:r>
          </a:p>
        </p:txBody>
      </p:sp>
      <p:sp>
        <p:nvSpPr>
          <p:cNvPr id="11" name="approval">
            <a:extLst xmlns:a="http://schemas.openxmlformats.org/drawingml/2006/main">
              <a:ext uri="{FF2B5EF4-FFF2-40B4-BE49-F238E27FC236}">
                <a16:creationId xmlns:a16="http://schemas.microsoft.com/office/drawing/2014/main" id="{71DA3814-D175-4013-9D47-7E6E3C1A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048000"/>
            <a:ext cx="2238375" cy="14478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FF2C9"/>
          </a:solidFill>
          <a:ln xmlns:a="http://schemas.openxmlformats.org/drawingml/2006/main" w="9525">
            <a:solidFill>
              <a:srgbClr val="E6C5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15C81-D760-43E6-84F0-A2EB7300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04800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A400"/>
          </a:solidFill>
          <a:ln xmlns:a="http://schemas.openxmlformats.org/drawingml/2006/main" w="0">
            <a:solidFill>
              <a:srgbClr val="ECA400"/>
            </a:solidFill>
            <a:prstDash val="solid"/>
          </a:ln>
        </p:spPr>
      </p:sp>
      <p:sp>
        <p:nvSpPr>
          <p:cNvPr id="13" name="approval-title">
            <a:extLst xmlns:a="http://schemas.openxmlformats.org/drawingml/2006/main">
              <a:ext uri="{FF2B5EF4-FFF2-40B4-BE49-F238E27FC236}">
                <a16:creationId xmlns:a16="http://schemas.microsoft.com/office/drawing/2014/main" id="{6821B99A-76BE-4880-BBAB-4AEA877F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52775"/>
            <a:ext cx="1933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0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Policy &amp; human approval</a:t>
            </a:r>
          </a:p>
        </p:txBody>
      </p:sp>
      <p:sp>
        <p:nvSpPr>
          <p:cNvPr id="14" name="approval-body">
            <a:extLst xmlns:a="http://schemas.openxmlformats.org/drawingml/2006/main">
              <a:ext uri="{FF2B5EF4-FFF2-40B4-BE49-F238E27FC236}">
                <a16:creationId xmlns:a16="http://schemas.microsoft.com/office/drawing/2014/main" id="{8262E4A5-0FFD-4F24-8434-9BDB9984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448050"/>
            <a:ext cx="19335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RBAC • change ticket • blast-radius limit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Read-only by default; approve each write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7892CA-2BFD-44C3-A84C-CDEE629C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339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OPERATING LOOP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5B227-3099-4406-A37B-638FA528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2190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1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Observe  →  Diagnose  →  Propose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Approve  →  Execute  →  Verify / roll back</a:t>
            </a:r>
          </a:p>
        </p:txBody>
      </p:sp>
      <p:sp>
        <p:nvSpPr>
          <p:cNvPr id="17" name="openshell-boundary">
            <a:extLst xmlns:a="http://schemas.openxmlformats.org/drawingml/2006/main">
              <a:ext uri="{FF2B5EF4-FFF2-40B4-BE49-F238E27FC236}">
                <a16:creationId xmlns:a16="http://schemas.microsoft.com/office/drawing/2014/main" id="{9E52B7B9-EEA0-4F52-82F3-9EA18B12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4524375" cy="3905250"/>
          </a:xfrm>
          <a:prstGeom xmlns:a="http://schemas.openxmlformats.org/drawingml/2006/main" prst="roundRect">
            <a:avLst>
              <a:gd name="adj" fmla="val 4390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102A36"/>
            </a:solidFill>
            <a:prstDash val="solid"/>
          </a:ln>
        </p:spPr>
      </p:sp>
      <p:sp>
        <p:nvSpPr>
          <p:cNvPr id="18" name="openshell-title">
            <a:extLst xmlns:a="http://schemas.openxmlformats.org/drawingml/2006/main">
              <a:ext uri="{FF2B5EF4-FFF2-40B4-BE49-F238E27FC236}">
                <a16:creationId xmlns:a16="http://schemas.microsoft.com/office/drawing/2014/main" id="{903C17A3-7572-4889-ACC9-E60EEE1F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866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3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NVIDIA OpenShell policy sandbox</a:t>
            </a:r>
          </a:p>
        </p:txBody>
      </p:sp>
      <p:sp>
        <p:nvSpPr>
          <p:cNvPr id="19" name="openshell-controls">
            <a:extLst xmlns:a="http://schemas.openxmlformats.org/drawingml/2006/main">
              <a:ext uri="{FF2B5EF4-FFF2-40B4-BE49-F238E27FC236}">
                <a16:creationId xmlns:a16="http://schemas.microsoft.com/office/drawing/2014/main" id="{56E8CF8E-CD04-45FC-AC5D-742B1322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52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B7D6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7D6E1"/>
                </a:solidFill>
                <a:latin typeface="Helvetica Neue"/>
                <a:ea typeface="Helvetica Neue"/>
                <a:cs typeface="Helvetica Neue"/>
              </a:rPr>
              <a:t>Gateway • identity • egress / MCP allow-list • secret injection • audit</a:t>
            </a:r>
          </a:p>
        </p:txBody>
      </p:sp>
      <p:sp>
        <p:nvSpPr>
          <p:cNvPr id="20" name="hermes">
            <a:extLst xmlns:a="http://schemas.openxmlformats.org/drawingml/2006/main">
              <a:ext uri="{FF2B5EF4-FFF2-40B4-BE49-F238E27FC236}">
                <a16:creationId xmlns:a16="http://schemas.microsoft.com/office/drawing/2014/main" id="{0236EDA9-C0CE-470E-B972-66DA0A71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14600"/>
            <a:ext cx="4048125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89A6A1-2983-4D2C-9D93-60741EB7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146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FD4"/>
          </a:solidFill>
          <a:ln xmlns:a="http://schemas.openxmlformats.org/drawingml/2006/main" w="0">
            <a:solidFill>
              <a:srgbClr val="0B9FD4"/>
            </a:solidFill>
            <a:prstDash val="solid"/>
          </a:ln>
        </p:spPr>
      </p:sp>
      <p:sp>
        <p:nvSpPr>
          <p:cNvPr id="22" name="hermes-title">
            <a:extLst xmlns:a="http://schemas.openxmlformats.org/drawingml/2006/main">
              <a:ext uri="{FF2B5EF4-FFF2-40B4-BE49-F238E27FC236}">
                <a16:creationId xmlns:a16="http://schemas.microsoft.com/office/drawing/2014/main" id="{17141935-D24B-4484-B56B-50B63CDE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619375"/>
            <a:ext cx="3743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Hermes Agent</a:t>
            </a:r>
          </a:p>
        </p:txBody>
      </p:sp>
      <p:sp>
        <p:nvSpPr>
          <p:cNvPr id="23" name="hermes-body">
            <a:extLst xmlns:a="http://schemas.openxmlformats.org/drawingml/2006/main">
              <a:ext uri="{FF2B5EF4-FFF2-40B4-BE49-F238E27FC236}">
                <a16:creationId xmlns:a16="http://schemas.microsoft.com/office/drawing/2014/main" id="{9D958AE2-8B3E-46CE-B28C-81800E20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14650"/>
            <a:ext cx="3743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Plans tool calls, preserves run context, and consumes fleet + host MCP tools</a:t>
            </a:r>
          </a:p>
        </p:txBody>
      </p:sp>
      <p:sp>
        <p:nvSpPr>
          <p:cNvPr id="24" name="router-label">
            <a:extLst xmlns:a="http://schemas.openxmlformats.org/drawingml/2006/main">
              <a:ext uri="{FF2B5EF4-FFF2-40B4-BE49-F238E27FC236}">
                <a16:creationId xmlns:a16="http://schemas.microsoft.com/office/drawing/2014/main" id="{EDE016AD-9BDB-4542-B94A-1281FAA1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581400"/>
            <a:ext cx="400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FC7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FC7D0"/>
                </a:solidFill>
                <a:latin typeface="Helvetica Neue"/>
                <a:ea typeface="Helvetica Neue"/>
                <a:cs typeface="Helvetica Neue"/>
              </a:rPr>
              <a:t>POLICY ROUTER — OPENAI-COMPATIBLE LOCAL ENDPOINTS</a:t>
            </a:r>
          </a:p>
        </p:txBody>
      </p:sp>
      <p:sp>
        <p:nvSpPr>
          <p:cNvPr id="25" name="nemotron">
            <a:extLst xmlns:a="http://schemas.openxmlformats.org/drawingml/2006/main">
              <a:ext uri="{FF2B5EF4-FFF2-40B4-BE49-F238E27FC236}">
                <a16:creationId xmlns:a16="http://schemas.microsoft.com/office/drawing/2014/main" id="{E294B7D4-A29A-4A4B-B370-BA5E542A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48100"/>
            <a:ext cx="192405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DDF4FC"/>
          </a:solidFill>
          <a:ln xmlns:a="http://schemas.openxmlformats.org/drawingml/2006/main" w="9525">
            <a:solidFill>
              <a:srgbClr val="8ED9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BBE74-1AB8-4EF2-B422-6D7FAD1F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4810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FD4"/>
          </a:solidFill>
          <a:ln xmlns:a="http://schemas.openxmlformats.org/drawingml/2006/main" w="0">
            <a:solidFill>
              <a:srgbClr val="0B9FD4"/>
            </a:solidFill>
            <a:prstDash val="solid"/>
          </a:ln>
        </p:spPr>
      </p:sp>
      <p:sp>
        <p:nvSpPr>
          <p:cNvPr id="27" name="nemotron-title">
            <a:extLst xmlns:a="http://schemas.openxmlformats.org/drawingml/2006/main">
              <a:ext uri="{FF2B5EF4-FFF2-40B4-BE49-F238E27FC236}">
                <a16:creationId xmlns:a16="http://schemas.microsoft.com/office/drawing/2014/main" id="{30283F22-D6E8-49E6-8816-F19C8ACF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6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Nemotron 3.5 Lightning</a:t>
            </a:r>
          </a:p>
        </p:txBody>
      </p:sp>
      <p:sp>
        <p:nvSpPr>
          <p:cNvPr id="28" name="nemotron-body">
            <a:extLst xmlns:a="http://schemas.openxmlformats.org/drawingml/2006/main">
              <a:ext uri="{FF2B5EF4-FFF2-40B4-BE49-F238E27FC236}">
                <a16:creationId xmlns:a16="http://schemas.microsoft.com/office/drawing/2014/main" id="{9E4DD555-6B77-4C3A-82AE-99D63C40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2481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Fast triage • tool planning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30B-A3B • NVFP4</a:t>
            </a:r>
          </a:p>
        </p:txBody>
      </p:sp>
      <p:sp>
        <p:nvSpPr>
          <p:cNvPr id="29" name="qwen">
            <a:extLst xmlns:a="http://schemas.openxmlformats.org/drawingml/2006/main">
              <a:ext uri="{FF2B5EF4-FFF2-40B4-BE49-F238E27FC236}">
                <a16:creationId xmlns:a16="http://schemas.microsoft.com/office/drawing/2014/main" id="{D492B584-959A-475D-90FC-195C4BA8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848100"/>
            <a:ext cx="1952625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EEE9FD"/>
          </a:solidFill>
          <a:ln xmlns:a="http://schemas.openxmlformats.org/drawingml/2006/main" w="9525">
            <a:solidFill>
              <a:srgbClr val="B9A8F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613654-2131-41B9-8C1F-670F5A29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84810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E4"/>
          </a:solidFill>
          <a:ln xmlns:a="http://schemas.openxmlformats.org/drawingml/2006/main" w="0">
            <a:solidFill>
              <a:srgbClr val="7C5CE4"/>
            </a:solidFill>
            <a:prstDash val="solid"/>
          </a:ln>
        </p:spPr>
      </p:sp>
      <p:sp>
        <p:nvSpPr>
          <p:cNvPr id="31" name="qwen-title">
            <a:extLst xmlns:a="http://schemas.openxmlformats.org/drawingml/2006/main">
              <a:ext uri="{FF2B5EF4-FFF2-40B4-BE49-F238E27FC236}">
                <a16:creationId xmlns:a16="http://schemas.microsoft.com/office/drawing/2014/main" id="{77975351-BCDD-42CE-A90A-F0530BB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952875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Qwen 3.8</a:t>
            </a:r>
          </a:p>
        </p:txBody>
      </p:sp>
      <p:sp>
        <p:nvSpPr>
          <p:cNvPr id="32" name="qwen-body">
            <a:extLst xmlns:a="http://schemas.openxmlformats.org/drawingml/2006/main">
              <a:ext uri="{FF2B5EF4-FFF2-40B4-BE49-F238E27FC236}">
                <a16:creationId xmlns:a16="http://schemas.microsoft.com/office/drawing/2014/main" id="{4D90542E-3166-45A5-8D0F-5EFA14D7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248150"/>
            <a:ext cx="1647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Deep diagnosis • config/code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27B starting point</a:t>
            </a:r>
          </a:p>
        </p:txBody>
      </p:sp>
      <p:sp>
        <p:nvSpPr>
          <p:cNvPr id="33" name="sandbox-footer">
            <a:extLst xmlns:a="http://schemas.openxmlformats.org/drawingml/2006/main">
              <a:ext uri="{FF2B5EF4-FFF2-40B4-BE49-F238E27FC236}">
                <a16:creationId xmlns:a16="http://schemas.microsoft.com/office/drawing/2014/main" id="{47B9F372-CB01-4A50-97A7-B733FF12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33975"/>
            <a:ext cx="4048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94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Sandbox boundary contains every agent path: shell, files, MCP, plugins, and model calls</a:t>
            </a:r>
          </a:p>
        </p:txBody>
      </p:sp>
      <p:sp>
        <p:nvSpPr>
          <p:cNvPr id="34" name="sumlm">
            <a:extLst xmlns:a="http://schemas.openxmlformats.org/drawingml/2006/main">
              <a:ext uri="{FF2B5EF4-FFF2-40B4-BE49-F238E27FC236}">
                <a16:creationId xmlns:a16="http://schemas.microsoft.com/office/drawing/2014/main" id="{40B90122-A598-4127-90B1-744A724F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667125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DCF6E9"/>
          </a:solidFill>
          <a:ln xmlns:a="http://schemas.openxmlformats.org/drawingml/2006/main" w="9525">
            <a:solidFill>
              <a:srgbClr val="8BDFB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5DC4B3-1040-442C-93C1-E61270B3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36" name="sumlm-title">
            <a:extLst xmlns:a="http://schemas.openxmlformats.org/drawingml/2006/main">
              <a:ext uri="{FF2B5EF4-FFF2-40B4-BE49-F238E27FC236}">
                <a16:creationId xmlns:a16="http://schemas.microsoft.com/office/drawing/2014/main" id="{AEA4DB3E-DFED-47BE-AFA7-45984325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145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SUSE Multi-Linux Manager 5.x</a:t>
            </a:r>
          </a:p>
        </p:txBody>
      </p:sp>
      <p:sp>
        <p:nvSpPr>
          <p:cNvPr id="37" name="sumlm-body">
            <a:extLst xmlns:a="http://schemas.openxmlformats.org/drawingml/2006/main">
              <a:ext uri="{FF2B5EF4-FFF2-40B4-BE49-F238E27FC236}">
                <a16:creationId xmlns:a16="http://schemas.microsoft.com/office/drawing/2014/main" id="{63521F8E-D1B9-4E8A-AD6A-05C4BEC7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09800"/>
            <a:ext cx="33623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System inventory • content lifecycle • CVE / patch posture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Salt / SSH / Ansible automation • audit history</a:t>
            </a:r>
          </a:p>
        </p:txBody>
      </p:sp>
      <p:sp>
        <p:nvSpPr>
          <p:cNvPr id="38" name="fleet-mcp">
            <a:extLst xmlns:a="http://schemas.openxmlformats.org/drawingml/2006/main">
              <a:ext uri="{FF2B5EF4-FFF2-40B4-BE49-F238E27FC236}">
                <a16:creationId xmlns:a16="http://schemas.microsoft.com/office/drawing/2014/main" id="{B30FE3F5-9275-4AD1-A169-2331B79D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895600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57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5754A"/>
                </a:solidFill>
                <a:latin typeface="Helvetica Neue"/>
                <a:ea typeface="Helvetica Neue"/>
                <a:cs typeface="Helvetica Neue"/>
              </a:rPr>
              <a:t>Uyuni / Multi-Linux Manager MCP server</a:t>
            </a:r>
          </a:p>
        </p:txBody>
      </p:sp>
      <p:sp>
        <p:nvSpPr>
          <p:cNvPr id="39" name="estate-label">
            <a:extLst xmlns:a="http://schemas.openxmlformats.org/drawingml/2006/main">
              <a:ext uri="{FF2B5EF4-FFF2-40B4-BE49-F238E27FC236}">
                <a16:creationId xmlns:a16="http://schemas.microsoft.com/office/drawing/2014/main" id="{1C477A1C-B7F9-48C7-8A40-A97BCF6C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5528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Managed estate</a:t>
            </a:r>
          </a:p>
        </p:txBody>
      </p:sp>
      <p:sp>
        <p:nvSpPr>
          <p:cNvPr id="40" name="sles16">
            <a:extLst xmlns:a="http://schemas.openxmlformats.org/drawingml/2006/main">
              <a:ext uri="{FF2B5EF4-FFF2-40B4-BE49-F238E27FC236}">
                <a16:creationId xmlns:a16="http://schemas.microsoft.com/office/drawing/2014/main" id="{25C56E50-C3FB-464F-B7F7-3FD042EC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1143000" cy="127635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DFB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DE6902-9FC8-4ED4-AF3A-7E869A04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42" name="sles16-title">
            <a:extLst xmlns:a="http://schemas.openxmlformats.org/drawingml/2006/main">
              <a:ext uri="{FF2B5EF4-FFF2-40B4-BE49-F238E27FC236}">
                <a16:creationId xmlns:a16="http://schemas.microsoft.com/office/drawing/2014/main" id="{9193F8B3-32B1-47B4-B23C-19FFDAB1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052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SLES 16</a:t>
            </a:r>
          </a:p>
        </p:txBody>
      </p:sp>
      <p:sp>
        <p:nvSpPr>
          <p:cNvPr id="43" name="sles16-body">
            <a:extLst xmlns:a="http://schemas.openxmlformats.org/drawingml/2006/main">
              <a:ext uri="{FF2B5EF4-FFF2-40B4-BE49-F238E27FC236}">
                <a16:creationId xmlns:a16="http://schemas.microsoft.com/office/drawing/2014/main" id="{CD5D8509-8E0A-424A-AA55-3373A94E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00550"/>
            <a:ext cx="838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MCP host + local server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Tech Preview</a:t>
            </a:r>
          </a:p>
        </p:txBody>
      </p:sp>
      <p:sp>
        <p:nvSpPr>
          <p:cNvPr id="44" name="rhel">
            <a:extLst xmlns:a="http://schemas.openxmlformats.org/drawingml/2006/main">
              <a:ext uri="{FF2B5EF4-FFF2-40B4-BE49-F238E27FC236}">
                <a16:creationId xmlns:a16="http://schemas.microsoft.com/office/drawing/2014/main" id="{BC992C0B-D6C6-4FCA-91C6-D4DF3E3B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0"/>
            <a:ext cx="1143000" cy="127635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640759-286E-4AF7-B356-915C16B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solidFill>
              <a:srgbClr val="C7CDD3"/>
            </a:solidFill>
            <a:prstDash val="solid"/>
          </a:ln>
        </p:spPr>
      </p:sp>
      <p:sp>
        <p:nvSpPr>
          <p:cNvPr id="46" name="rhel-title">
            <a:extLst xmlns:a="http://schemas.openxmlformats.org/drawingml/2006/main">
              <a:ext uri="{FF2B5EF4-FFF2-40B4-BE49-F238E27FC236}">
                <a16:creationId xmlns:a16="http://schemas.microsoft.com/office/drawing/2014/main" id="{766AFF0C-D86F-4DB1-B18C-83BFEDFF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052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619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RHEL / clones</a:t>
            </a:r>
          </a:p>
        </p:txBody>
      </p:sp>
      <p:sp>
        <p:nvSpPr>
          <p:cNvPr id="47" name="rhel-body">
            <a:extLst xmlns:a="http://schemas.openxmlformats.org/drawingml/2006/main">
              <a:ext uri="{FF2B5EF4-FFF2-40B4-BE49-F238E27FC236}">
                <a16:creationId xmlns:a16="http://schemas.microsoft.com/office/drawing/2014/main" id="{CC82DD0B-185E-4C73-8C37-FF5ED3FC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00550"/>
            <a:ext cx="838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Managed through Salt / SSH</a:t>
            </a:r>
          </a:p>
        </p:txBody>
      </p:sp>
      <p:sp>
        <p:nvSpPr>
          <p:cNvPr id="48" name="debian">
            <a:extLst xmlns:a="http://schemas.openxmlformats.org/drawingml/2006/main">
              <a:ext uri="{FF2B5EF4-FFF2-40B4-BE49-F238E27FC236}">
                <a16:creationId xmlns:a16="http://schemas.microsoft.com/office/drawing/2014/main" id="{67D0A1DF-F6F7-4732-AEFC-7BC89496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000500"/>
            <a:ext cx="1143000" cy="127635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B621A3-DD8A-4ACA-97D3-536E637A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00050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solidFill>
              <a:srgbClr val="C7CDD3"/>
            </a:solidFill>
            <a:prstDash val="solid"/>
          </a:ln>
        </p:spPr>
      </p:sp>
      <p:sp>
        <p:nvSpPr>
          <p:cNvPr id="50" name="debian-title">
            <a:extLst xmlns:a="http://schemas.openxmlformats.org/drawingml/2006/main">
              <a:ext uri="{FF2B5EF4-FFF2-40B4-BE49-F238E27FC236}">
                <a16:creationId xmlns:a16="http://schemas.microsoft.com/office/drawing/2014/main" id="{D0780243-7C53-4561-8B2F-DB66D2B7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052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Ubuntu / Debian</a:t>
            </a:r>
          </a:p>
        </p:txBody>
      </p:sp>
      <p:sp>
        <p:nvSpPr>
          <p:cNvPr id="51" name="debian-body">
            <a:extLst xmlns:a="http://schemas.openxmlformats.org/drawingml/2006/main">
              <a:ext uri="{FF2B5EF4-FFF2-40B4-BE49-F238E27FC236}">
                <a16:creationId xmlns:a16="http://schemas.microsoft.com/office/drawing/2014/main" id="{2C8E70CB-DB4F-4E9A-9B6F-F60A0546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400550"/>
            <a:ext cx="838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Managed through Salt / SSH</a:t>
            </a:r>
          </a:p>
        </p:txBody>
      </p:sp>
      <p:cxnSp>
        <p:nvCxnSpPr>
          <p:cNvPr id="349" name=""/>
          <p:cNvCxnSpPr>
            <a:stCxn xmlns:a="http://schemas.openxmlformats.org/drawingml/2006/main" id="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667000" y="2295525"/>
            <a:ext cx="619125" cy="6572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B9FD4"/>
            </a:solidFill>
            <a:prstDash val="solid"/>
            <a:tailEnd type="triangle" w="med" len="med"/>
          </a:ln>
        </p:spPr>
      </p:cxnSp>
      <p:cxnSp>
        <p:nvCxnSpPr>
          <p:cNvPr id="350" name=""/>
          <p:cNvCxnSpPr>
            <a:stCxn xmlns:a="http://schemas.openxmlformats.org/drawingml/2006/main" id="11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2667000" y="2952750"/>
            <a:ext cx="619125" cy="819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CA400"/>
            </a:solidFill>
            <a:prstDash val="solid"/>
            <a:tailEnd type="triangle" w="sm" len="sm"/>
          </a:ln>
        </p:spPr>
      </p:cxnSp>
      <p:cxnSp>
        <p:nvCxnSpPr>
          <p:cNvPr id="351" name=""/>
          <p:cNvCxnSpPr>
            <a:stCxn xmlns:a="http://schemas.openxmlformats.org/drawingml/2006/main" id="20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V="1">
            <a:off x="7334250" y="2524125"/>
            <a:ext cx="7620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B9FD4"/>
            </a:solidFill>
            <a:prstDash val="solid"/>
            <a:tailEnd type="triangle" w="med" len="med"/>
          </a:ln>
        </p:spPr>
      </p:cxnSp>
      <p:cxnSp>
        <p:nvCxnSpPr>
          <p:cNvPr id="352" name=""/>
          <p:cNvCxnSpPr>
            <a:stCxn xmlns:a="http://schemas.openxmlformats.org/drawingml/2006/main" id="34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 flipH="1">
            <a:off x="8667750" y="3238500"/>
            <a:ext cx="1262063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0BA78"/>
            </a:solidFill>
            <a:prstDash val="solid"/>
            <a:tailEnd type="triangle" w="sm" len="sm"/>
          </a:ln>
        </p:spPr>
      </p:cxnSp>
      <p:cxnSp>
        <p:nvCxnSpPr>
          <p:cNvPr id="353" name=""/>
          <p:cNvCxnSpPr>
            <a:stCxn xmlns:a="http://schemas.openxmlformats.org/drawingml/2006/main" id="34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 flipH="1">
            <a:off x="9925050" y="3238500"/>
            <a:ext cx="4763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0BA78"/>
            </a:solidFill>
            <a:prstDash val="solid"/>
            <a:tailEnd type="triangle" w="sm" len="sm"/>
          </a:ln>
        </p:spPr>
      </p:cxnSp>
      <p:cxnSp>
        <p:nvCxnSpPr>
          <p:cNvPr id="354" name=""/>
          <p:cNvCxnSpPr>
            <a:stCxn xmlns:a="http://schemas.openxmlformats.org/drawingml/2006/main" id="34" idx="2"/>
            <a:endCxn xmlns:a="http://schemas.openxmlformats.org/drawingml/2006/main" id="48" idx="0"/>
          </p:cNvCxnSpPr>
          <p:nvPr/>
        </p:nvCxnSpPr>
        <p:spPr>
          <a:xfrm xmlns:a="http://schemas.openxmlformats.org/drawingml/2006/main">
            <a:off x="9929813" y="3238500"/>
            <a:ext cx="1252538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0BA78"/>
            </a:solidFill>
            <a:prstDash val="solid"/>
            <a:tailEnd type="triangle" w="sm" len="sm"/>
          </a:ln>
        </p:spPr>
      </p:cxnSp>
      <p:cxnSp>
        <p:nvCxnSpPr>
          <p:cNvPr id="355" name=""/>
          <p:cNvCxnSpPr>
            <a:stCxn xmlns:a="http://schemas.openxmlformats.org/drawingml/2006/main" id="20" idx="2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5310188" y="3390900"/>
            <a:ext cx="2786063" cy="12477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7C5CE4"/>
            </a:solidFill>
            <a:prstDash val="dash"/>
            <a:tailEnd type="triangle" w="sm" len="sm"/>
          </a:ln>
        </p:spPr>
      </p:cxnSp>
      <p:sp>
        <p:nvSpPr>
          <p:cNvPr id="59" name="fleet-link-label">
            <a:extLst xmlns:a="http://schemas.openxmlformats.org/drawingml/2006/main">
              <a:ext uri="{FF2B5EF4-FFF2-40B4-BE49-F238E27FC236}">
                <a16:creationId xmlns:a16="http://schemas.microsoft.com/office/drawing/2014/main" id="{787BEB95-62A8-4DC4-87AD-E79A40FA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1937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B9F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B9FD4"/>
                </a:solidFill>
                <a:latin typeface="Helvetica Neue"/>
                <a:ea typeface="Helvetica Neue"/>
                <a:cs typeface="Helvetica Neue"/>
              </a:rPr>
              <a:t>fleet MCP</a:t>
            </a:r>
          </a:p>
        </p:txBody>
      </p:sp>
      <p:sp>
        <p:nvSpPr>
          <p:cNvPr id="60" name="direct-link-label">
            <a:extLst xmlns:a="http://schemas.openxmlformats.org/drawingml/2006/main">
              <a:ext uri="{FF2B5EF4-FFF2-40B4-BE49-F238E27FC236}">
                <a16:creationId xmlns:a16="http://schemas.microsoft.com/office/drawing/2014/main" id="{EBD88781-E8FA-46E6-8B78-63E9716B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56260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C5C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C5CE4"/>
                </a:solidFill>
                <a:latin typeface="Helvetica Neue"/>
                <a:ea typeface="Helvetica Neue"/>
                <a:cs typeface="Helvetica Neue"/>
              </a:rPr>
              <a:t>direct host MCP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9ABF86-C779-4091-8715-043E04C0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94360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solidFill>
              <a:srgbClr val="C7CDD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9300F07-4748-4A91-976C-B8077257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150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B9F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B9FD4"/>
                </a:solidFill>
                <a:latin typeface="Helvetica Neue"/>
                <a:ea typeface="Helvetica Neue"/>
                <a:cs typeface="Helvetica Neue"/>
              </a:rPr>
              <a:t>QUERY / PLAN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443A37-A054-4394-833D-598CF26C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1150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0B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30BA78"/>
                </a:solidFill>
                <a:latin typeface="Helvetica Neue"/>
                <a:ea typeface="Helvetica Neue"/>
                <a:cs typeface="Helvetica Neue"/>
              </a:rPr>
              <a:t>APPROVED CHANGE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0D91310-7AE4-43FC-B56F-522F7C02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115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C5C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C5CE4"/>
                </a:solidFill>
                <a:latin typeface="Helvetica Neue"/>
                <a:ea typeface="Helvetica Neue"/>
                <a:cs typeface="Helvetica Neue"/>
              </a:rPr>
              <a:t>TECH-PREVIEW DIRECT PATH</a:t>
            </a:r>
          </a:p>
        </p:txBody>
      </p:sp>
      <p:sp>
        <p:nvSpPr>
          <p:cNvPr id="65" name="production-default">
            <a:extLst xmlns:a="http://schemas.openxmlformats.org/drawingml/2006/main">
              <a:ext uri="{FF2B5EF4-FFF2-40B4-BE49-F238E27FC236}">
                <a16:creationId xmlns:a16="http://schemas.microsoft.com/office/drawing/2014/main" id="{75C5E89F-5036-4990-A9D2-6719A426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067425"/>
            <a:ext cx="681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359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Production default: use the fleet MCP for broad actions; enable per-host MCP narrowly for evidence gathering and exceptional diagnosis.</a:t>
            </a:r>
          </a:p>
        </p:txBody>
      </p:sp>
    </p:spTree>
    <p:extLst>
      <p:ext uri="{BB962C8B-B14F-4D97-AF65-F5344CB8AC3E}">
        <p14:creationId xmlns:p14="http://schemas.microsoft.com/office/powerpoint/2010/main" val="825438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90D05E-8593-4F2B-8702-9353AC08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44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The AI factory separates management, runtime, data, and fleet authority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CE903A3-4ABA-4207-8C65-2A8D2EB8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66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SUSE AI Factory with NVIDIA turns the platform into repeatable, governed blueprints across dedicated clusters.</a:t>
            </a:r>
          </a:p>
        </p:txBody>
      </p:sp>
      <p:sp>
        <p:nvSpPr>
          <p:cNvPr id="3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2590FE6C-788D-4FAB-8753-C2575580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2392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9F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B9FD4"/>
                </a:solidFill>
                <a:latin typeface="Helvetica Neue"/>
                <a:ea typeface="Helvetica Neue"/>
                <a:cs typeface="Helvetica Neue"/>
              </a:rPr>
              <a:t>DETAILED PLATFORM STACK  •  2026</a:t>
            </a:r>
          </a:p>
        </p:txBody>
      </p:sp>
      <p:sp>
        <p:nvSpPr>
          <p:cNvPr id="4" name="ai-factory-boundary">
            <a:extLst xmlns:a="http://schemas.openxmlformats.org/drawingml/2006/main">
              <a:ext uri="{FF2B5EF4-FFF2-40B4-BE49-F238E27FC236}">
                <a16:creationId xmlns:a16="http://schemas.microsoft.com/office/drawing/2014/main" id="{9D9B2579-74E2-4156-B505-72738FDE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4000500"/>
          </a:xfrm>
          <a:prstGeom xmlns:a="http://schemas.openxmlformats.org/drawingml/2006/main" prst="roundRect">
            <a:avLst>
              <a:gd name="adj" fmla="val 381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30BA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2D28E-C8F4-4BD4-9150-E9E5D629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23336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3F2D6-E4D4-4069-B0AC-79EE43D2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71575"/>
            <a:ext cx="2257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SUSE AI FACTORY WITH NVIDIA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66228-4F76-41E8-A5C3-88683DC2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38275"/>
            <a:ext cx="2143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MANAGEMENT CLUSTER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3714A-22B8-4A12-A4A5-C1C717A1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438275"/>
            <a:ext cx="5143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AI WORKLOAD CLUSTER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5BA5F-8D78-4DE2-99AE-7A32B2D0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38275"/>
            <a:ext cx="32004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DATA + FLEET 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155B4-E732-469B-A301-FFBE6608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95450"/>
            <a:ext cx="2190750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CF6E9"/>
          </a:solidFill>
          <a:ln xmlns:a="http://schemas.openxmlformats.org/drawingml/2006/main" w="9525">
            <a:solidFill>
              <a:srgbClr val="8BDF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C1965-61CA-4127-B4B0-76A9E08A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954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12" name="Rancher Prime-title">
            <a:extLst xmlns:a="http://schemas.openxmlformats.org/drawingml/2006/main">
              <a:ext uri="{FF2B5EF4-FFF2-40B4-BE49-F238E27FC236}">
                <a16:creationId xmlns:a16="http://schemas.microsoft.com/office/drawing/2014/main" id="{840022D2-D79C-404B-B00A-C0E5F639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62125"/>
            <a:ext cx="1962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Rancher Prime</a:t>
            </a:r>
          </a:p>
        </p:txBody>
      </p:sp>
      <p:sp>
        <p:nvSpPr>
          <p:cNvPr id="13" name="Rancher Prime-body">
            <a:extLst xmlns:a="http://schemas.openxmlformats.org/drawingml/2006/main">
              <a:ext uri="{FF2B5EF4-FFF2-40B4-BE49-F238E27FC236}">
                <a16:creationId xmlns:a16="http://schemas.microsoft.com/office/drawing/2014/main" id="{6A891979-92F6-4C68-83C8-28220797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990725"/>
            <a:ext cx="1962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36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Provision and govern RKE2 / K3s clusters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861E4F-CFA7-4B03-8D36-96458E9A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305050"/>
            <a:ext cx="2190750" cy="58102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54FBA-445A-4113-8B8A-DF9FAEDA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305050"/>
            <a:ext cx="666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16" name="AI Factory UI + Operator-title">
            <a:extLst xmlns:a="http://schemas.openxmlformats.org/drawingml/2006/main">
              <a:ext uri="{FF2B5EF4-FFF2-40B4-BE49-F238E27FC236}">
                <a16:creationId xmlns:a16="http://schemas.microsoft.com/office/drawing/2014/main" id="{611522B3-B359-4049-A444-A8D51ADD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71725"/>
            <a:ext cx="1962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AI Factory UI + Operator</a:t>
            </a:r>
          </a:p>
        </p:txBody>
      </p:sp>
      <p:sp>
        <p:nvSpPr>
          <p:cNvPr id="17" name="AI Factory UI + Operator-body">
            <a:extLst xmlns:a="http://schemas.openxmlformats.org/drawingml/2006/main">
              <a:ext uri="{FF2B5EF4-FFF2-40B4-BE49-F238E27FC236}">
                <a16:creationId xmlns:a16="http://schemas.microsoft.com/office/drawing/2014/main" id="{D8C16153-CBBE-45EB-B936-67CD9DF6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00325"/>
            <a:ext cx="1962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212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Management plane for lifecycle and policy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D1A5A1-1B86-4ED7-8196-0FA0E65E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971800"/>
            <a:ext cx="2190750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4FC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C17643-A595-4A2D-87C0-10E68F96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97180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FD4"/>
          </a:solidFill>
          <a:ln xmlns:a="http://schemas.openxmlformats.org/drawingml/2006/main" w="0">
            <a:solidFill>
              <a:srgbClr val="0B9FD4"/>
            </a:solidFill>
            <a:prstDash val="solid"/>
          </a:ln>
        </p:spPr>
      </p:sp>
      <p:sp>
        <p:nvSpPr>
          <p:cNvPr id="20" name="Fleet GitOps-title">
            <a:extLst xmlns:a="http://schemas.openxmlformats.org/drawingml/2006/main">
              <a:ext uri="{FF2B5EF4-FFF2-40B4-BE49-F238E27FC236}">
                <a16:creationId xmlns:a16="http://schemas.microsoft.com/office/drawing/2014/main" id="{4DC71420-F03C-45DD-BCC5-52B7D4EC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38475"/>
            <a:ext cx="1962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Fleet GitOps</a:t>
            </a:r>
          </a:p>
        </p:txBody>
      </p:sp>
      <p:sp>
        <p:nvSpPr>
          <p:cNvPr id="21" name="Fleet GitOps-body">
            <a:extLst xmlns:a="http://schemas.openxmlformats.org/drawingml/2006/main">
              <a:ext uri="{FF2B5EF4-FFF2-40B4-BE49-F238E27FC236}">
                <a16:creationId xmlns:a16="http://schemas.microsoft.com/office/drawing/2014/main" id="{AC38F79E-0C59-4105-AD77-8839B082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67075"/>
            <a:ext cx="1962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Versioned, repeatable deployment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60B677-6A69-4C36-B76F-B93BC55F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581400"/>
            <a:ext cx="21907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CF205E-91BF-4335-94FA-3EA3383C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581400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FD4"/>
          </a:solidFill>
          <a:ln xmlns:a="http://schemas.openxmlformats.org/drawingml/2006/main" w="0">
            <a:solidFill>
              <a:srgbClr val="0B9FD4"/>
            </a:solidFill>
            <a:prstDash val="solid"/>
          </a:ln>
        </p:spPr>
      </p:sp>
      <p:sp>
        <p:nvSpPr>
          <p:cNvPr id="24" name="AI Library + Blueprints-title">
            <a:extLst xmlns:a="http://schemas.openxmlformats.org/drawingml/2006/main">
              <a:ext uri="{FF2B5EF4-FFF2-40B4-BE49-F238E27FC236}">
                <a16:creationId xmlns:a16="http://schemas.microsoft.com/office/drawing/2014/main" id="{B466C8AD-7C6C-4B12-B751-EEF23F9B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48075"/>
            <a:ext cx="1962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AI Library + Blueprints</a:t>
            </a:r>
          </a:p>
        </p:txBody>
      </p:sp>
      <p:sp>
        <p:nvSpPr>
          <p:cNvPr id="25" name="AI Library + Blueprints-body">
            <a:extLst xmlns:a="http://schemas.openxmlformats.org/drawingml/2006/main">
              <a:ext uri="{FF2B5EF4-FFF2-40B4-BE49-F238E27FC236}">
                <a16:creationId xmlns:a16="http://schemas.microsoft.com/office/drawing/2014/main" id="{A1E5F8C5-1723-4975-98B2-AE6F839D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7667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NVIDIA AI Enterprise charts; RAG and research-agent patterns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98CA92-12D0-45E8-9EEB-1D4E404D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14825"/>
            <a:ext cx="21907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2C9"/>
          </a:solidFill>
          <a:ln xmlns:a="http://schemas.openxmlformats.org/drawingml/2006/main" w="9525">
            <a:solidFill>
              <a:srgbClr val="E6C55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0F1EBD-3324-406C-9DFB-8F0DB55F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148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A400"/>
          </a:solidFill>
          <a:ln xmlns:a="http://schemas.openxmlformats.org/drawingml/2006/main" w="0">
            <a:solidFill>
              <a:srgbClr val="ECA400"/>
            </a:solidFill>
            <a:prstDash val="solid"/>
          </a:ln>
        </p:spPr>
      </p:sp>
      <p:sp>
        <p:nvSpPr>
          <p:cNvPr id="28" name="Trusted software supply-title">
            <a:extLst xmlns:a="http://schemas.openxmlformats.org/drawingml/2006/main">
              <a:ext uri="{FF2B5EF4-FFF2-40B4-BE49-F238E27FC236}">
                <a16:creationId xmlns:a16="http://schemas.microsoft.com/office/drawing/2014/main" id="{F95C5C96-150A-4D0E-8DAD-E1311466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81500"/>
            <a:ext cx="1962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Trusted software supply</a:t>
            </a:r>
          </a:p>
        </p:txBody>
      </p:sp>
      <p:sp>
        <p:nvSpPr>
          <p:cNvPr id="29" name="Trusted software supply-body">
            <a:extLst xmlns:a="http://schemas.openxmlformats.org/drawingml/2006/main">
              <a:ext uri="{FF2B5EF4-FFF2-40B4-BE49-F238E27FC236}">
                <a16:creationId xmlns:a16="http://schemas.microsoft.com/office/drawing/2014/main" id="{A9C307FE-DEE7-4D09-95D1-F92B561F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101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SUSE App Collection / Registry • NVIDIA NGC • SBOM</a:t>
            </a:r>
          </a:p>
        </p:txBody>
      </p:sp>
      <p:sp>
        <p:nvSpPr>
          <p:cNvPr id="30" name="openshell-runtime">
            <a:extLst xmlns:a="http://schemas.openxmlformats.org/drawingml/2006/main">
              <a:ext uri="{FF2B5EF4-FFF2-40B4-BE49-F238E27FC236}">
                <a16:creationId xmlns:a16="http://schemas.microsoft.com/office/drawing/2014/main" id="{EAB0A5E0-A96E-4785-8409-DEDA1A0E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5143500" cy="1200150"/>
          </a:xfrm>
          <a:prstGeom xmlns:a="http://schemas.openxmlformats.org/drawingml/2006/main" prst="roundRect">
            <a:avLst>
              <a:gd name="adj" fmla="val 10317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102A3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6FF4EB-AE31-4A53-8B9B-67380F70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7716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NVIDIA OpenShell / NeMoClaw policy sandbox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6298C7-4448-4852-911F-B1247110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907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B7D6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7D6E1"/>
                </a:solidFill>
                <a:latin typeface="Helvetica Neue"/>
                <a:ea typeface="Helvetica Neue"/>
                <a:cs typeface="Helvetica Neue"/>
              </a:rPr>
              <a:t>Identity • network / filesystem / process policy • MCP allow-lists • privacy routing • audit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98C19F-28EC-46E4-BE62-804861AB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47900"/>
            <a:ext cx="2143125" cy="542925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1AA7A3-C778-4CF3-B7BD-FA9596DB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47900"/>
            <a:ext cx="666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FD4"/>
          </a:solidFill>
          <a:ln xmlns:a="http://schemas.openxmlformats.org/drawingml/2006/main" w="0">
            <a:solidFill>
              <a:srgbClr val="0B9FD4"/>
            </a:solidFill>
            <a:prstDash val="solid"/>
          </a:ln>
        </p:spPr>
      </p:sp>
      <p:sp>
        <p:nvSpPr>
          <p:cNvPr id="35" name="Hermes Agent-title">
            <a:extLst xmlns:a="http://schemas.openxmlformats.org/drawingml/2006/main">
              <a:ext uri="{FF2B5EF4-FFF2-40B4-BE49-F238E27FC236}">
                <a16:creationId xmlns:a16="http://schemas.microsoft.com/office/drawing/2014/main" id="{9EEE12F4-94BE-4607-A240-23995D1E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14575"/>
            <a:ext cx="1914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Hermes Agent</a:t>
            </a:r>
          </a:p>
        </p:txBody>
      </p:sp>
      <p:sp>
        <p:nvSpPr>
          <p:cNvPr id="36" name="Hermes Agent-body">
            <a:extLst xmlns:a="http://schemas.openxmlformats.org/drawingml/2006/main">
              <a:ext uri="{FF2B5EF4-FFF2-40B4-BE49-F238E27FC236}">
                <a16:creationId xmlns:a16="http://schemas.microsoft.com/office/drawing/2014/main" id="{7AB0271C-2661-4602-B669-B99B0FF0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43175"/>
            <a:ext cx="19145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8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Planner, session context, MCP client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7AEAAF-6FB3-4707-BD97-8F83F7BE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47900"/>
            <a:ext cx="2533650" cy="542925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E8D54C-3F3B-4C77-9398-2D575221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47900"/>
            <a:ext cx="666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E4"/>
          </a:solidFill>
          <a:ln xmlns:a="http://schemas.openxmlformats.org/drawingml/2006/main" w="0">
            <a:solidFill>
              <a:srgbClr val="7C5CE4"/>
            </a:solidFill>
            <a:prstDash val="solid"/>
          </a:ln>
        </p:spPr>
      </p:sp>
      <p:sp>
        <p:nvSpPr>
          <p:cNvPr id="39" name="NeMo Agent Toolkit-title">
            <a:extLst xmlns:a="http://schemas.openxmlformats.org/drawingml/2006/main">
              <a:ext uri="{FF2B5EF4-FFF2-40B4-BE49-F238E27FC236}">
                <a16:creationId xmlns:a16="http://schemas.microsoft.com/office/drawing/2014/main" id="{99B4349B-1924-40D1-A24F-0EEA40DF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14575"/>
            <a:ext cx="2305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NeMo Agent Toolkit</a:t>
            </a:r>
          </a:p>
        </p:txBody>
      </p:sp>
      <p:sp>
        <p:nvSpPr>
          <p:cNvPr id="40" name="NeMo Agent Toolkit-body">
            <a:extLst xmlns:a="http://schemas.openxmlformats.org/drawingml/2006/main">
              <a:ext uri="{FF2B5EF4-FFF2-40B4-BE49-F238E27FC236}">
                <a16:creationId xmlns:a16="http://schemas.microsoft.com/office/drawing/2014/main" id="{5697ED7F-4A0D-4E22-A109-8AC47FE2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43175"/>
            <a:ext cx="2305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12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Function + function-group library for tools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AC2379-880F-4A48-ABE6-4BD979B4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00375"/>
            <a:ext cx="16002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DCF6E9"/>
          </a:solidFill>
          <a:ln xmlns:a="http://schemas.openxmlformats.org/drawingml/2006/main" w="9525">
            <a:solidFill>
              <a:srgbClr val="8BDFB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E22B87-D4AB-4031-BA67-AC270D71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00375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43" name="SUSE AI Universal Proxy-title">
            <a:extLst xmlns:a="http://schemas.openxmlformats.org/drawingml/2006/main">
              <a:ext uri="{FF2B5EF4-FFF2-40B4-BE49-F238E27FC236}">
                <a16:creationId xmlns:a16="http://schemas.microsoft.com/office/drawing/2014/main" id="{6EF80307-A1ED-47D3-ABC8-C7735E32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67050"/>
            <a:ext cx="1371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25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SUSE AI Universal Proxy</a:t>
            </a:r>
          </a:p>
        </p:txBody>
      </p:sp>
      <p:sp>
        <p:nvSpPr>
          <p:cNvPr id="44" name="SUSE AI Universal Proxy-body">
            <a:extLst xmlns:a="http://schemas.openxmlformats.org/drawingml/2006/main">
              <a:ext uri="{FF2B5EF4-FFF2-40B4-BE49-F238E27FC236}">
                <a16:creationId xmlns:a16="http://schemas.microsoft.com/office/drawing/2014/main" id="{DC862A1C-2582-4A38-9A39-1947D889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956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Governed MCP gateway • tech preview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5D0D1D-D24A-4ED3-AA66-6268C056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00375"/>
            <a:ext cx="16573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DDF4FC"/>
          </a:solidFill>
          <a:ln xmlns:a="http://schemas.openxmlformats.org/drawingml/2006/main" w="9525">
            <a:solidFill>
              <a:srgbClr val="8ED9F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DDFEB1-E168-4BD4-B1BE-686BFD65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00375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FD4"/>
          </a:solidFill>
          <a:ln xmlns:a="http://schemas.openxmlformats.org/drawingml/2006/main" w="0">
            <a:solidFill>
              <a:srgbClr val="0B9FD4"/>
            </a:solidFill>
            <a:prstDash val="solid"/>
          </a:ln>
        </p:spPr>
      </p:sp>
      <p:sp>
        <p:nvSpPr>
          <p:cNvPr id="47" name="NeMo Switchyard-title">
            <a:extLst xmlns:a="http://schemas.openxmlformats.org/drawingml/2006/main">
              <a:ext uri="{FF2B5EF4-FFF2-40B4-BE49-F238E27FC236}">
                <a16:creationId xmlns:a16="http://schemas.microsoft.com/office/drawing/2014/main" id="{53D9543F-FC71-4CF9-BFE7-D0BECBDD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670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NeMo Switchyard</a:t>
            </a:r>
          </a:p>
        </p:txBody>
      </p:sp>
      <p:sp>
        <p:nvSpPr>
          <p:cNvPr id="48" name="NeMo Switchyard-body">
            <a:extLst xmlns:a="http://schemas.openxmlformats.org/drawingml/2006/main">
              <a:ext uri="{FF2B5EF4-FFF2-40B4-BE49-F238E27FC236}">
                <a16:creationId xmlns:a16="http://schemas.microsoft.com/office/drawing/2014/main" id="{4968455B-7BF2-4E1F-99EC-6F1998C5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Per-step model routing; latency + token telemetry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F163AB-76C6-42FB-9AAE-80CF3240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0375"/>
            <a:ext cx="16954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2C9"/>
          </a:solidFill>
          <a:ln xmlns:a="http://schemas.openxmlformats.org/drawingml/2006/main" w="9525">
            <a:solidFill>
              <a:srgbClr val="E6C55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CD855F-1958-4287-A053-DDFE624E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0375"/>
            <a:ext cx="666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A400"/>
          </a:solidFill>
          <a:ln xmlns:a="http://schemas.openxmlformats.org/drawingml/2006/main" w="0">
            <a:solidFill>
              <a:srgbClr val="ECA400"/>
            </a:solidFill>
            <a:prstDash val="solid"/>
          </a:ln>
        </p:spPr>
      </p:sp>
      <p:sp>
        <p:nvSpPr>
          <p:cNvPr id="51" name="Guardrails + Evaluator-title">
            <a:extLst xmlns:a="http://schemas.openxmlformats.org/drawingml/2006/main">
              <a:ext uri="{FF2B5EF4-FFF2-40B4-BE49-F238E27FC236}">
                <a16:creationId xmlns:a16="http://schemas.microsoft.com/office/drawing/2014/main" id="{B2CA3D5F-3462-401A-9657-1AFD4171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67050"/>
            <a:ext cx="1466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8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Guardrails + Evaluator</a:t>
            </a:r>
          </a:p>
        </p:txBody>
      </p:sp>
      <p:sp>
        <p:nvSpPr>
          <p:cNvPr id="52" name="Guardrails + Evaluator-body">
            <a:extLst xmlns:a="http://schemas.openxmlformats.org/drawingml/2006/main">
              <a:ext uri="{FF2B5EF4-FFF2-40B4-BE49-F238E27FC236}">
                <a16:creationId xmlns:a16="http://schemas.microsoft.com/office/drawing/2014/main" id="{5895BC83-436B-4170-913C-91AF8367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956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Input/output safety; LLM, retriever and RAG eval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EDDFAC-0113-40DD-B62F-88122B4D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52850"/>
            <a:ext cx="5143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D9F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505E4A-0D6F-4F1B-9CE0-41C2AC3B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528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FD4"/>
          </a:solidFill>
          <a:ln xmlns:a="http://schemas.openxmlformats.org/drawingml/2006/main" w="0">
            <a:solidFill>
              <a:srgbClr val="0B9FD4"/>
            </a:solidFill>
            <a:prstDash val="solid"/>
          </a:ln>
        </p:spPr>
      </p:sp>
      <p:sp>
        <p:nvSpPr>
          <p:cNvPr id="55" name="NVIDIA NIM microservices-title">
            <a:extLst xmlns:a="http://schemas.openxmlformats.org/drawingml/2006/main">
              <a:ext uri="{FF2B5EF4-FFF2-40B4-BE49-F238E27FC236}">
                <a16:creationId xmlns:a16="http://schemas.microsoft.com/office/drawing/2014/main" id="{F4074BE0-545A-48C4-9CCA-C7924D39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9525"/>
            <a:ext cx="4914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NVIDIA NIM microservices</a:t>
            </a:r>
          </a:p>
        </p:txBody>
      </p:sp>
      <p:sp>
        <p:nvSpPr>
          <p:cNvPr id="56" name="NVIDIA NIM microservices-body">
            <a:extLst xmlns:a="http://schemas.openxmlformats.org/drawingml/2006/main">
              <a:ext uri="{FF2B5EF4-FFF2-40B4-BE49-F238E27FC236}">
                <a16:creationId xmlns:a16="http://schemas.microsoft.com/office/drawing/2014/main" id="{D39C2414-33D1-4EBE-A222-2A177F2C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48125"/>
            <a:ext cx="491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Reasoning LLM • embedding • reranking • retrieval services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79792F4-5623-4AAA-8A8D-72CDADF4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38575"/>
            <a:ext cx="16097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FC"/>
          </a:solidFill>
          <a:ln xmlns:a="http://schemas.openxmlformats.org/drawingml/2006/main" w="9525">
            <a:solidFill>
              <a:srgbClr val="8ED9F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F84E9AC-20DA-410D-928B-12F93E18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848100"/>
            <a:ext cx="1533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0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02A36"/>
                </a:solidFill>
                <a:latin typeface="Helvetica Neue"/>
                <a:ea typeface="Helvetica Neue"/>
                <a:cs typeface="Helvetica Neue"/>
              </a:rPr>
              <a:t>Nemotron 3.5 Lightning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605C7B8-6045-4978-AF48-737D3705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838575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9FD"/>
          </a:solidFill>
          <a:ln xmlns:a="http://schemas.openxmlformats.org/drawingml/2006/main" w="9525">
            <a:solidFill>
              <a:srgbClr val="B9A8F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E9E8AF7-2B6A-434A-83F3-D5C223C4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848100"/>
            <a:ext cx="92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0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02A36"/>
                </a:solidFill>
                <a:latin typeface="Helvetica Neue"/>
                <a:ea typeface="Helvetica Neue"/>
                <a:cs typeface="Helvetica Neue"/>
              </a:rPr>
              <a:t>Qwen 3.8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B2EC860-41AA-4567-AD1C-61F208DE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00575"/>
            <a:ext cx="20002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F4FC"/>
          </a:solidFill>
          <a:ln xmlns:a="http://schemas.openxmlformats.org/drawingml/2006/main" w="9525">
            <a:solidFill>
              <a:srgbClr val="8ED9F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E05CF19-07B8-4B51-87BC-557C585B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00575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FD4"/>
          </a:solidFill>
          <a:ln xmlns:a="http://schemas.openxmlformats.org/drawingml/2006/main" w="0">
            <a:solidFill>
              <a:srgbClr val="0B9FD4"/>
            </a:solidFill>
            <a:prstDash val="solid"/>
          </a:ln>
        </p:spPr>
      </p:sp>
      <p:sp>
        <p:nvSpPr>
          <p:cNvPr id="63" name="Run:ai GPU orchestration-title">
            <a:extLst xmlns:a="http://schemas.openxmlformats.org/drawingml/2006/main">
              <a:ext uri="{FF2B5EF4-FFF2-40B4-BE49-F238E27FC236}">
                <a16:creationId xmlns:a16="http://schemas.microsoft.com/office/drawing/2014/main" id="{8D52A909-8D3B-4559-98F0-70FDCF0C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1771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Run:ai GPU orchestration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E0C3F74-E685-45FA-8803-02213764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00575"/>
            <a:ext cx="30480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F6E9"/>
          </a:solidFill>
          <a:ln xmlns:a="http://schemas.openxmlformats.org/drawingml/2006/main" w="9525">
            <a:solidFill>
              <a:srgbClr val="8BDFB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A592C59-F77B-434B-9FE4-189FC30D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00575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66" name="NIM • GPU • Network Operators-title">
            <a:extLst xmlns:a="http://schemas.openxmlformats.org/drawingml/2006/main">
              <a:ext uri="{FF2B5EF4-FFF2-40B4-BE49-F238E27FC236}">
                <a16:creationId xmlns:a16="http://schemas.microsoft.com/office/drawing/2014/main" id="{285EAE9D-723B-46CB-AD75-2FF56E65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67250"/>
            <a:ext cx="2819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NIM • GPU • Network Operators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CC68B9F-099C-41AA-B071-00C163C5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95450"/>
            <a:ext cx="3200400" cy="561975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DDF4FC"/>
          </a:solidFill>
          <a:ln xmlns:a="http://schemas.openxmlformats.org/drawingml/2006/main" w="9525">
            <a:solidFill>
              <a:srgbClr val="8ED9F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FFEBEC4-52F1-41A7-900F-E6086691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95450"/>
            <a:ext cx="666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FD4"/>
          </a:solidFill>
          <a:ln xmlns:a="http://schemas.openxmlformats.org/drawingml/2006/main" w="0">
            <a:solidFill>
              <a:srgbClr val="0B9FD4"/>
            </a:solidFill>
            <a:prstDash val="solid"/>
          </a:ln>
        </p:spPr>
      </p:sp>
      <p:sp>
        <p:nvSpPr>
          <p:cNvPr id="69" name="NeMo Retriever-title">
            <a:extLst xmlns:a="http://schemas.openxmlformats.org/drawingml/2006/main">
              <a:ext uri="{FF2B5EF4-FFF2-40B4-BE49-F238E27FC236}">
                <a16:creationId xmlns:a16="http://schemas.microsoft.com/office/drawing/2014/main" id="{E7AFEACC-B29A-46A0-B6C7-25401637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762125"/>
            <a:ext cx="2971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NeMo Retriever</a:t>
            </a:r>
          </a:p>
        </p:txBody>
      </p:sp>
      <p:sp>
        <p:nvSpPr>
          <p:cNvPr id="70" name="NeMo Retriever-body">
            <a:extLst xmlns:a="http://schemas.openxmlformats.org/drawingml/2006/main">
              <a:ext uri="{FF2B5EF4-FFF2-40B4-BE49-F238E27FC236}">
                <a16:creationId xmlns:a16="http://schemas.microsoft.com/office/drawing/2014/main" id="{7BEC46A8-27F5-4BDE-896B-63012659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990725"/>
            <a:ext cx="2971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Extract • index • query • embed • rerank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0DB682C-D332-4D8C-8E40-83C6823E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43150"/>
            <a:ext cx="32004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EEE9FD"/>
          </a:solidFill>
          <a:ln xmlns:a="http://schemas.openxmlformats.org/drawingml/2006/main" w="9525">
            <a:solidFill>
              <a:srgbClr val="B9A8F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E7DA1CD-7843-47EF-818C-3C8441AE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43150"/>
            <a:ext cx="666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E4"/>
          </a:solidFill>
          <a:ln xmlns:a="http://schemas.openxmlformats.org/drawingml/2006/main" w="0">
            <a:solidFill>
              <a:srgbClr val="7C5CE4"/>
            </a:solidFill>
            <a:prstDash val="solid"/>
          </a:ln>
        </p:spPr>
      </p:sp>
      <p:sp>
        <p:nvSpPr>
          <p:cNvPr id="73" name="Vector databases-title">
            <a:extLst xmlns:a="http://schemas.openxmlformats.org/drawingml/2006/main">
              <a:ext uri="{FF2B5EF4-FFF2-40B4-BE49-F238E27FC236}">
                <a16:creationId xmlns:a16="http://schemas.microsoft.com/office/drawing/2014/main" id="{7DF19E30-51B4-4CC6-8D01-9E58D2CF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09825"/>
            <a:ext cx="2971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Vector databases</a:t>
            </a:r>
          </a:p>
        </p:txBody>
      </p:sp>
      <p:sp>
        <p:nvSpPr>
          <p:cNvPr id="74" name="Vector databases-body">
            <a:extLst xmlns:a="http://schemas.openxmlformats.org/drawingml/2006/main">
              <a:ext uri="{FF2B5EF4-FFF2-40B4-BE49-F238E27FC236}">
                <a16:creationId xmlns:a16="http://schemas.microsoft.com/office/drawing/2014/main" id="{47833342-1E2F-4CB2-8866-43DC9A10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638425"/>
            <a:ext cx="2971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Qdrant / Milvus for semantic memory and RAG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675E188-D887-496B-991C-44396F71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28950"/>
            <a:ext cx="32004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87D7D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F258C0D-BE68-4B55-A345-31B0B279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28950"/>
            <a:ext cx="666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94"/>
          </a:solidFill>
          <a:ln xmlns:a="http://schemas.openxmlformats.org/drawingml/2006/main" w="0">
            <a:solidFill>
              <a:srgbClr val="1C9A94"/>
            </a:solidFill>
            <a:prstDash val="solid"/>
          </a:ln>
        </p:spPr>
      </p:sp>
      <p:sp>
        <p:nvSpPr>
          <p:cNvPr id="77" name="Search + durable data-title">
            <a:extLst xmlns:a="http://schemas.openxmlformats.org/drawingml/2006/main">
              <a:ext uri="{FF2B5EF4-FFF2-40B4-BE49-F238E27FC236}">
                <a16:creationId xmlns:a16="http://schemas.microsoft.com/office/drawing/2014/main" id="{3ADAE41C-B009-40CD-B3FE-AAB10D18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95625"/>
            <a:ext cx="2971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Search + durable data</a:t>
            </a:r>
          </a:p>
        </p:txBody>
      </p:sp>
      <p:sp>
        <p:nvSpPr>
          <p:cNvPr id="78" name="Search + durable data-body">
            <a:extLst xmlns:a="http://schemas.openxmlformats.org/drawingml/2006/main">
              <a:ext uri="{FF2B5EF4-FFF2-40B4-BE49-F238E27FC236}">
                <a16:creationId xmlns:a16="http://schemas.microsoft.com/office/drawing/2014/main" id="{008EDD70-5B97-48CA-B5F6-B404C4E6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324225"/>
            <a:ext cx="2971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8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OpenSearch hybrid search • object storage • metadata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D0DDF27-F6CB-40CF-95A4-76EA7DA0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14750"/>
            <a:ext cx="3200400" cy="561975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FFF2C9"/>
          </a:solidFill>
          <a:ln xmlns:a="http://schemas.openxmlformats.org/drawingml/2006/main" w="9525">
            <a:solidFill>
              <a:srgbClr val="E6C55E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919D792-71FF-4F1E-984B-D525B4E6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14750"/>
            <a:ext cx="666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A400"/>
          </a:solidFill>
          <a:ln xmlns:a="http://schemas.openxmlformats.org/drawingml/2006/main" w="0">
            <a:solidFill>
              <a:srgbClr val="ECA400"/>
            </a:solidFill>
            <a:prstDash val="solid"/>
          </a:ln>
        </p:spPr>
      </p:sp>
      <p:sp>
        <p:nvSpPr>
          <p:cNvPr id="81" name="AI lifecycle services-title">
            <a:extLst xmlns:a="http://schemas.openxmlformats.org/drawingml/2006/main">
              <a:ext uri="{FF2B5EF4-FFF2-40B4-BE49-F238E27FC236}">
                <a16:creationId xmlns:a16="http://schemas.microsoft.com/office/drawing/2014/main" id="{3C8B166A-C916-4A11-8137-8CF77EE1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781425"/>
            <a:ext cx="2971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AI lifecycle services</a:t>
            </a:r>
          </a:p>
        </p:txBody>
      </p:sp>
      <p:sp>
        <p:nvSpPr>
          <p:cNvPr id="82" name="AI lifecycle services-body">
            <a:extLst xmlns:a="http://schemas.openxmlformats.org/drawingml/2006/main">
              <a:ext uri="{FF2B5EF4-FFF2-40B4-BE49-F238E27FC236}">
                <a16:creationId xmlns:a16="http://schemas.microsoft.com/office/drawing/2014/main" id="{8B94C61B-C016-432E-9E18-00FFA45F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010025"/>
            <a:ext cx="2971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MLflow • Kubeflow • model and evaluation evidence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69D73D5-FB15-48B6-9E54-8271451A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62450"/>
            <a:ext cx="3200400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F6E9"/>
          </a:solidFill>
          <a:ln xmlns:a="http://schemas.openxmlformats.org/drawingml/2006/main" w="9525">
            <a:solidFill>
              <a:srgbClr val="8BDFB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F404B3F-AA7D-4951-BE94-BBB4D6E7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62450"/>
            <a:ext cx="666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85" name="SUSE Multi-Linux Manager + MCP-title">
            <a:extLst xmlns:a="http://schemas.openxmlformats.org/drawingml/2006/main">
              <a:ext uri="{FF2B5EF4-FFF2-40B4-BE49-F238E27FC236}">
                <a16:creationId xmlns:a16="http://schemas.microsoft.com/office/drawing/2014/main" id="{7A0B5804-28B8-4845-ABAF-D2FFAFF2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29125"/>
            <a:ext cx="2971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SUSE Multi-Linux Manager + MCP</a:t>
            </a:r>
          </a:p>
        </p:txBody>
      </p:sp>
      <p:sp>
        <p:nvSpPr>
          <p:cNvPr id="86" name="SUSE Multi-Linux Manager + MCP-body">
            <a:extLst xmlns:a="http://schemas.openxmlformats.org/drawingml/2006/main">
              <a:ext uri="{FF2B5EF4-FFF2-40B4-BE49-F238E27FC236}">
                <a16:creationId xmlns:a16="http://schemas.microsoft.com/office/drawing/2014/main" id="{BADD829D-A55B-4D3D-BACC-76EAEC21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57725"/>
            <a:ext cx="2971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8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Inventory • CVEs • content lifecycle • Salt / SSH / Ansible</a:t>
            </a:r>
          </a:p>
        </p:txBody>
      </p:sp>
      <p:cxnSp>
        <p:nvCxnSpPr>
          <p:cNvPr id="390" name="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638300" y="2219325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0BA78"/>
            </a:solidFill>
            <a:prstDash val="solid"/>
            <a:tailEnd type="triangle" w="sm" len="sm"/>
          </a:ln>
        </p:spPr>
      </p:cxnSp>
      <p:cxnSp>
        <p:nvCxnSpPr>
          <p:cNvPr id="391" name=""/>
          <p:cNvCxnSpPr>
            <a:stCxn xmlns:a="http://schemas.openxmlformats.org/drawingml/2006/main" id="1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638300" y="2886075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0BA78"/>
            </a:solidFill>
            <a:prstDash val="solid"/>
            <a:tailEnd type="triangle" w="sm" len="sm"/>
          </a:ln>
        </p:spPr>
      </p:cxnSp>
      <p:cxnSp>
        <p:nvCxnSpPr>
          <p:cNvPr id="392" name=""/>
          <p:cNvCxnSpPr>
            <a:stCxn xmlns:a="http://schemas.openxmlformats.org/drawingml/2006/main" id="18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638300" y="3495675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9FD4"/>
            </a:solidFill>
            <a:prstDash val="solid"/>
            <a:tailEnd type="triangle" w="sm" len="sm"/>
          </a:ln>
        </p:spPr>
      </p:cxnSp>
      <p:cxnSp>
        <p:nvCxnSpPr>
          <p:cNvPr id="393" name=""/>
          <p:cNvCxnSpPr>
            <a:stCxn xmlns:a="http://schemas.openxmlformats.org/drawingml/2006/main" id="22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1638300" y="4229100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CA400"/>
            </a:solidFill>
            <a:prstDash val="solid"/>
            <a:tailEnd type="triangle" w="sm" len="sm"/>
          </a:ln>
        </p:spPr>
      </p:cxnSp>
      <p:cxnSp>
        <p:nvCxnSpPr>
          <p:cNvPr id="394" name=""/>
          <p:cNvCxnSpPr>
            <a:stCxn xmlns:a="http://schemas.openxmlformats.org/drawingml/2006/main" id="14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V="1">
            <a:off x="2733675" y="2295525"/>
            <a:ext cx="276225" cy="3000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0BA78"/>
            </a:solidFill>
            <a:prstDash val="solid"/>
            <a:tailEnd type="triangle" w="sm" len="sm"/>
          </a:ln>
        </p:spPr>
      </p:cxnSp>
      <p:cxnSp>
        <p:nvCxnSpPr>
          <p:cNvPr id="395" name=""/>
          <p:cNvCxnSpPr>
            <a:stCxn xmlns:a="http://schemas.openxmlformats.org/drawingml/2006/main" id="33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 flipH="1">
            <a:off x="3810000" y="2790825"/>
            <a:ext cx="442913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9FD4"/>
            </a:solidFill>
            <a:prstDash val="solid"/>
            <a:tailEnd type="triangle" w="sm" len="sm"/>
          </a:ln>
        </p:spPr>
      </p:cxnSp>
      <p:cxnSp>
        <p:nvCxnSpPr>
          <p:cNvPr id="396" name=""/>
          <p:cNvCxnSpPr>
            <a:stCxn xmlns:a="http://schemas.openxmlformats.org/drawingml/2006/main" id="37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 flipH="1">
            <a:off x="5534025" y="2790825"/>
            <a:ext cx="118110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C5CE4"/>
            </a:solidFill>
            <a:prstDash val="solid"/>
            <a:tailEnd type="triangle" w="sm" len="sm"/>
          </a:ln>
        </p:spPr>
      </p:cxnSp>
      <p:cxnSp>
        <p:nvCxnSpPr>
          <p:cNvPr id="397" name=""/>
          <p:cNvCxnSpPr>
            <a:stCxn xmlns:a="http://schemas.openxmlformats.org/drawingml/2006/main" id="45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5534025" y="3648075"/>
            <a:ext cx="47625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B9FD4"/>
            </a:solidFill>
            <a:prstDash val="solid"/>
            <a:tailEnd type="triangle" w="sm" len="sm"/>
          </a:ln>
        </p:spPr>
      </p:cxnSp>
      <p:cxnSp>
        <p:nvCxnSpPr>
          <p:cNvPr id="398" name=""/>
          <p:cNvCxnSpPr>
            <a:stCxn xmlns:a="http://schemas.openxmlformats.org/drawingml/2006/main" id="49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 flipH="1">
            <a:off x="5581650" y="3648075"/>
            <a:ext cx="1724025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ECA400"/>
            </a:solidFill>
            <a:prstDash val="solid"/>
            <a:tailEnd type="triangle" w="sm" len="sm"/>
          </a:ln>
        </p:spPr>
      </p:cxnSp>
      <p:cxnSp>
        <p:nvCxnSpPr>
          <p:cNvPr id="399" name=""/>
          <p:cNvCxnSpPr>
            <a:stCxn xmlns:a="http://schemas.openxmlformats.org/drawingml/2006/main" id="53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 flipV="1">
            <a:off x="8153400" y="1976438"/>
            <a:ext cx="276225" cy="21478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9FD4"/>
            </a:solidFill>
            <a:prstDash val="solid"/>
            <a:tailEnd type="triangle" w="sm" len="sm"/>
          </a:ln>
        </p:spPr>
      </p:cxnSp>
      <p:cxnSp>
        <p:nvCxnSpPr>
          <p:cNvPr id="400" name=""/>
          <p:cNvCxnSpPr>
            <a:stCxn xmlns:a="http://schemas.openxmlformats.org/drawingml/2006/main" id="67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10029825" y="2257425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C5CE4"/>
            </a:solidFill>
            <a:prstDash val="solid"/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849A3FA-06FE-4445-BE54-8491E109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5572125" cy="466725"/>
          </a:xfrm>
          <a:prstGeom xmlns:a="http://schemas.openxmlformats.org/drawingml/2006/main" prst="roundRect">
            <a:avLst>
              <a:gd name="adj" fmla="val 20408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E9A8A8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EB2F643-F6BA-4656-AF2E-971802A9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952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64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64545"/>
                </a:solidFill>
                <a:latin typeface="Helvetica Neue"/>
                <a:ea typeface="Helvetica Neue"/>
                <a:cs typeface="Helvetica Neue"/>
              </a:rPr>
              <a:t>SUSE Security (NeuVector)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9C34145-B08E-4997-9B62-0B2BE74F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6735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52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image / SBOM scanning • admission control • runtime protection • Zero Trust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D8EF03D-D849-4B48-A73C-F88F34AD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91150"/>
            <a:ext cx="5676900" cy="466725"/>
          </a:xfrm>
          <a:prstGeom xmlns:a="http://schemas.openxmlformats.org/drawingml/2006/main" prst="roundRect">
            <a:avLst>
              <a:gd name="adj" fmla="val 20408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87D7D2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1CA11BD-0379-4216-BB99-40352B58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67350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C9A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C9A94"/>
                </a:solidFill>
                <a:latin typeface="Helvetica Neue"/>
                <a:ea typeface="Helvetica Neue"/>
                <a:cs typeface="Helvetica Neue"/>
              </a:rPr>
              <a:t>SUSE Observability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8AA1694-BF33-4185-9A49-BBD48C10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67350"/>
            <a:ext cx="3533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0542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OpenTelemetry • metrics / logs / traces • topology • GPU, token and model-route telemetry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3082012-8538-4E9B-B0A9-B7D91E4A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11391900" cy="485775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102A3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FDBBEC7-6AD0-491E-85B2-19D33F42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07695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FC7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FC7D0"/>
                </a:solidFill>
                <a:latin typeface="Helvetica Neue"/>
                <a:ea typeface="Helvetica Neue"/>
                <a:cs typeface="Helvetica Neue"/>
              </a:rPr>
              <a:t>FOUNDATION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D1828A8-322F-4FD8-A535-4B49F075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769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SLES 16 / SL Micro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2B331B0-E5CE-4FEC-BE81-9E32253A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607695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RKE2 / K3s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FCE3EBE-019D-473A-AF35-9879B79C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0769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NVIDIA drivers • CUDA • TensorRT-LLM • Dynamo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0FA3264-B9CD-42B0-8C56-5B1518B5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07695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DGX / RTX PRO / GPU cloud</a:t>
            </a:r>
          </a:p>
        </p:txBody>
      </p:sp>
    </p:spTree>
    <p:extLst>
      <p:ext uri="{BB962C8B-B14F-4D97-AF65-F5344CB8AC3E}">
        <p14:creationId xmlns:p14="http://schemas.microsoft.com/office/powerpoint/2010/main" val="8254381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2B19F7-2767-421D-B5DD-2447B0F7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882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Every remediation closes the loop through evidence, approval, and verification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58FF29C-7216-4DE9-A8E4-412DFE16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66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The agent may investigate broadly, but writes stay bounded, attributable, and reversible.</a:t>
            </a:r>
          </a:p>
        </p:txBody>
      </p:sp>
      <p:sp>
        <p:nvSpPr>
          <p:cNvPr id="3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3D2B8923-01B5-4786-B01F-1D58BDEF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92392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959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9F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B9FD4"/>
                </a:solidFill>
                <a:latin typeface="Helvetica Neue"/>
                <a:ea typeface="Helvetica Neue"/>
                <a:cs typeface="Helvetica Neue"/>
              </a:rPr>
              <a:t>AGENT TROUBLESHOOTING LOOP  •  2026</a:t>
            </a:r>
          </a:p>
        </p:txBody>
      </p:sp>
      <p:sp>
        <p:nvSpPr>
          <p:cNvPr id="4" name="stage-1">
            <a:extLst xmlns:a="http://schemas.openxmlformats.org/drawingml/2006/main">
              <a:ext uri="{FF2B5EF4-FFF2-40B4-BE49-F238E27FC236}">
                <a16:creationId xmlns:a16="http://schemas.microsoft.com/office/drawing/2014/main" id="{03FEF307-84DF-4BEA-9F17-7A5BE1F3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66875"/>
            <a:ext cx="1762125" cy="18097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1C9A9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AB53A-E53C-41B0-ACB8-1288094C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6687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94"/>
          </a:solidFill>
          <a:ln xmlns:a="http://schemas.openxmlformats.org/drawingml/2006/main" w="0">
            <a:solidFill>
              <a:srgbClr val="1C9A94"/>
            </a:solidFill>
            <a:prstDash val="solid"/>
          </a:ln>
        </p:spPr>
      </p:sp>
      <p:sp>
        <p:nvSpPr>
          <p:cNvPr id="6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D6689625-6561-414B-8849-8A9CBA76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733550"/>
            <a:ext cx="1533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9FC33E03-DC73-4969-B1D9-4FFCA4A1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190750"/>
            <a:ext cx="15335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SUSE Observability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SUSE Security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ITSM / alert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ECD3C-4BBA-430C-9EC0-8594B9B3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790700"/>
            <a:ext cx="276225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9A94"/>
          </a:solidFill>
          <a:ln xmlns:a="http://schemas.openxmlformats.org/drawingml/2006/main" w="0">
            <a:solidFill>
              <a:srgbClr val="1C9A9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FD663-4950-453D-AD6B-E8FDCD68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00225"/>
            <a:ext cx="200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4CFFB-A43C-4253-ABE2-119A2447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1175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Detect</a:t>
            </a:r>
          </a:p>
        </p:txBody>
      </p:sp>
      <p:sp>
        <p:nvSpPr>
          <p:cNvPr id="11" name="stage-2">
            <a:extLst xmlns:a="http://schemas.openxmlformats.org/drawingml/2006/main">
              <a:ext uri="{FF2B5EF4-FFF2-40B4-BE49-F238E27FC236}">
                <a16:creationId xmlns:a16="http://schemas.microsoft.com/office/drawing/2014/main" id="{4B4492FA-7225-4CC1-BD48-08F66A78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666875"/>
            <a:ext cx="1762125" cy="18097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EE9FD"/>
          </a:solidFill>
          <a:ln xmlns:a="http://schemas.openxmlformats.org/drawingml/2006/main" w="9525">
            <a:solidFill>
              <a:srgbClr val="7C5C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039FA-8D70-4E13-8DA5-A246C797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66687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E4"/>
          </a:solidFill>
          <a:ln xmlns:a="http://schemas.openxmlformats.org/drawingml/2006/main" w="0">
            <a:solidFill>
              <a:srgbClr val="7C5CE4"/>
            </a:solidFill>
            <a:prstDash val="solid"/>
          </a:ln>
        </p:spPr>
      </p:sp>
      <p:sp>
        <p:nvSpPr>
          <p:cNvPr id="13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2F7B384A-7017-44BE-9E61-F7CB9D2F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733550"/>
            <a:ext cx="1533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A7A29EF4-6995-4885-AB11-6A7A9F22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190750"/>
            <a:ext cx="15335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Topology, logs, traces, CVEs, fleet state, KB + vector retrieval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C5A20-CBF3-4429-A07C-BC9FB318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790700"/>
            <a:ext cx="276225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5CE4"/>
          </a:solidFill>
          <a:ln xmlns:a="http://schemas.openxmlformats.org/drawingml/2006/main" w="0">
            <a:solidFill>
              <a:srgbClr val="7C5C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AA7C7-6AFD-4863-B079-C029B916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800225"/>
            <a:ext cx="200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7275B-EF07-4526-AEEE-868DEBC3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81175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Ground</a:t>
            </a:r>
          </a:p>
        </p:txBody>
      </p:sp>
      <p:cxnSp>
        <p:nvCxnSpPr>
          <p:cNvPr id="265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190750" y="257175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5CE4"/>
            </a:solidFill>
            <a:prstDash val="solid"/>
            <a:tailEnd type="triangle" w="sm" len="sm"/>
          </a:ln>
        </p:spPr>
      </p:cxnSp>
      <p:sp>
        <p:nvSpPr>
          <p:cNvPr id="19" name="stage-3">
            <a:extLst xmlns:a="http://schemas.openxmlformats.org/drawingml/2006/main">
              <a:ext uri="{FF2B5EF4-FFF2-40B4-BE49-F238E27FC236}">
                <a16:creationId xmlns:a16="http://schemas.microsoft.com/office/drawing/2014/main" id="{2F6EF70F-A412-4B8C-9F52-E58BAEF4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66875"/>
            <a:ext cx="1762125" cy="18097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DDF4FC"/>
          </a:solidFill>
          <a:ln xmlns:a="http://schemas.openxmlformats.org/drawingml/2006/main" w="9525">
            <a:solidFill>
              <a:srgbClr val="0B9F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F24B8C-3280-44DC-A334-78ED86C2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6687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FD4"/>
          </a:solidFill>
          <a:ln xmlns:a="http://schemas.openxmlformats.org/drawingml/2006/main" w="0">
            <a:solidFill>
              <a:srgbClr val="0B9FD4"/>
            </a:solidFill>
            <a:prstDash val="solid"/>
          </a:ln>
        </p:spPr>
      </p:sp>
      <p:sp>
        <p:nvSpPr>
          <p:cNvPr id="21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4628E9FE-3892-4709-B5C2-2E9A305E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33550"/>
            <a:ext cx="1533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stage-3-body">
            <a:extLst xmlns:a="http://schemas.openxmlformats.org/drawingml/2006/main">
              <a:ext uri="{FF2B5EF4-FFF2-40B4-BE49-F238E27FC236}">
                <a16:creationId xmlns:a16="http://schemas.microsoft.com/office/drawing/2014/main" id="{B688E9F2-A923-465F-8635-79CE4685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190750"/>
            <a:ext cx="15335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Hermes + NeMo Agent Toolkit functions inside OpenShell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8622BA-7AB5-4F0D-B6CC-6179DB56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90700"/>
            <a:ext cx="276225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FD4"/>
          </a:solidFill>
          <a:ln xmlns:a="http://schemas.openxmlformats.org/drawingml/2006/main" w="0">
            <a:solidFill>
              <a:srgbClr val="0B9F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1ABC45-4E77-4908-B67F-EAB60D58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00225"/>
            <a:ext cx="200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F1AF21-2425-4B8D-AA56-D78CFCB2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81175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</p:txBody>
      </p:sp>
      <p:cxnSp>
        <p:nvCxnSpPr>
          <p:cNvPr id="273" name=""/>
          <p:cNvCxnSpPr>
            <a:stCxn xmlns:a="http://schemas.openxmlformats.org/drawingml/2006/main" id="11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095750" y="257175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9FD4"/>
            </a:solidFill>
            <a:prstDash val="solid"/>
            <a:tailEnd type="triangle" w="sm" len="sm"/>
          </a:ln>
        </p:spPr>
      </p:cxnSp>
      <p:sp>
        <p:nvSpPr>
          <p:cNvPr id="27" name="stage-4">
            <a:extLst xmlns:a="http://schemas.openxmlformats.org/drawingml/2006/main">
              <a:ext uri="{FF2B5EF4-FFF2-40B4-BE49-F238E27FC236}">
                <a16:creationId xmlns:a16="http://schemas.microsoft.com/office/drawing/2014/main" id="{65E4FEB8-2D70-4A5A-9E6C-31C8F7D8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66875"/>
            <a:ext cx="1762125" cy="18097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2C9"/>
          </a:solidFill>
          <a:ln xmlns:a="http://schemas.openxmlformats.org/drawingml/2006/main" w="9525">
            <a:solidFill>
              <a:srgbClr val="ECA4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107B8E-5D00-49D6-9EFC-2769B77E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6687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A400"/>
          </a:solidFill>
          <a:ln xmlns:a="http://schemas.openxmlformats.org/drawingml/2006/main" w="0">
            <a:solidFill>
              <a:srgbClr val="ECA400"/>
            </a:solidFill>
            <a:prstDash val="solid"/>
          </a:ln>
        </p:spPr>
      </p:sp>
      <p:sp>
        <p:nvSpPr>
          <p:cNvPr id="29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D5E8F88E-D042-43D8-AE8D-5FD0FB18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33550"/>
            <a:ext cx="1533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stage-4-body">
            <a:extLst xmlns:a="http://schemas.openxmlformats.org/drawingml/2006/main">
              <a:ext uri="{FF2B5EF4-FFF2-40B4-BE49-F238E27FC236}">
                <a16:creationId xmlns:a16="http://schemas.microsoft.com/office/drawing/2014/main" id="{37CAD4FE-F8E7-407C-91AE-06E4CE92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90750"/>
            <a:ext cx="15335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Universal Proxy • Switchyard • Guardrails • NIM endpoint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459E14-0D55-4F52-8F79-6CCE02F5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90700"/>
            <a:ext cx="276225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400"/>
          </a:solidFill>
          <a:ln xmlns:a="http://schemas.openxmlformats.org/drawingml/2006/main" w="0">
            <a:solidFill>
              <a:srgbClr val="ECA4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726685-E664-411D-9173-8D1846F3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00225"/>
            <a:ext cx="200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DC76D7-2C03-4C54-8B1F-CA251E20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81175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8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Route + guard</a:t>
            </a:r>
          </a:p>
        </p:txBody>
      </p:sp>
      <p:cxnSp>
        <p:nvCxnSpPr>
          <p:cNvPr id="281" name=""/>
          <p:cNvCxnSpPr>
            <a:stCxn xmlns:a="http://schemas.openxmlformats.org/drawingml/2006/main" id="19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6000750" y="257175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CA400"/>
            </a:solidFill>
            <a:prstDash val="solid"/>
            <a:tailEnd type="triangle" w="sm" len="sm"/>
          </a:ln>
        </p:spPr>
      </p:cxnSp>
      <p:sp>
        <p:nvSpPr>
          <p:cNvPr id="35" name="stage-5">
            <a:extLst xmlns:a="http://schemas.openxmlformats.org/drawingml/2006/main">
              <a:ext uri="{FF2B5EF4-FFF2-40B4-BE49-F238E27FC236}">
                <a16:creationId xmlns:a16="http://schemas.microsoft.com/office/drawing/2014/main" id="{3CD51ACC-1314-48B9-87F6-988A1AE7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66875"/>
            <a:ext cx="1762125" cy="18097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2C9"/>
          </a:solidFill>
          <a:ln xmlns:a="http://schemas.openxmlformats.org/drawingml/2006/main" w="9525">
            <a:solidFill>
              <a:srgbClr val="ECA4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BBEA41-0269-4288-9C26-182ACC93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6687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A400"/>
          </a:solidFill>
          <a:ln xmlns:a="http://schemas.openxmlformats.org/drawingml/2006/main" w="0">
            <a:solidFill>
              <a:srgbClr val="ECA400"/>
            </a:solidFill>
            <a:prstDash val="solid"/>
          </a:ln>
        </p:spPr>
      </p:sp>
      <p:sp>
        <p:nvSpPr>
          <p:cNvPr id="37" name="stage-5-title">
            <a:extLst xmlns:a="http://schemas.openxmlformats.org/drawingml/2006/main">
              <a:ext uri="{FF2B5EF4-FFF2-40B4-BE49-F238E27FC236}">
                <a16:creationId xmlns:a16="http://schemas.microsoft.com/office/drawing/2014/main" id="{DA6CE907-BADF-4530-8944-25C6FBA6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733550"/>
            <a:ext cx="1533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stage-5-body">
            <a:extLst xmlns:a="http://schemas.openxmlformats.org/drawingml/2006/main">
              <a:ext uri="{FF2B5EF4-FFF2-40B4-BE49-F238E27FC236}">
                <a16:creationId xmlns:a16="http://schemas.microsoft.com/office/drawing/2014/main" id="{09983AA2-AAEE-4F91-A0EA-E8E98CE1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90750"/>
            <a:ext cx="15335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RBAC • ticket • maintenance window • target and blast-radius limits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DCD339-9BBE-44F5-9E6B-7E8A2937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790700"/>
            <a:ext cx="276225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400"/>
          </a:solidFill>
          <a:ln xmlns:a="http://schemas.openxmlformats.org/drawingml/2006/main" w="0">
            <a:solidFill>
              <a:srgbClr val="ECA4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300CDE-8061-4D64-9AD4-3BA19768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800225"/>
            <a:ext cx="200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E58B37-75E6-4EBE-BBC2-79A6C317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81175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Approve</a:t>
            </a:r>
          </a:p>
        </p:txBody>
      </p:sp>
      <p:cxnSp>
        <p:nvCxnSpPr>
          <p:cNvPr id="289" name=""/>
          <p:cNvCxnSpPr>
            <a:stCxn xmlns:a="http://schemas.openxmlformats.org/drawingml/2006/main" id="27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7905750" y="257175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CA400"/>
            </a:solidFill>
            <a:prstDash val="solid"/>
            <a:tailEnd type="triangle" w="sm" len="sm"/>
          </a:ln>
        </p:spPr>
      </p:cxnSp>
      <p:sp>
        <p:nvSpPr>
          <p:cNvPr id="43" name="stage-6">
            <a:extLst xmlns:a="http://schemas.openxmlformats.org/drawingml/2006/main">
              <a:ext uri="{FF2B5EF4-FFF2-40B4-BE49-F238E27FC236}">
                <a16:creationId xmlns:a16="http://schemas.microsoft.com/office/drawing/2014/main" id="{A8A40F17-250E-4C48-99AF-9E06BB93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666875"/>
            <a:ext cx="1762125" cy="18097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DCF6E9"/>
          </a:solidFill>
          <a:ln xmlns:a="http://schemas.openxmlformats.org/drawingml/2006/main" w="9525">
            <a:solidFill>
              <a:srgbClr val="30BA7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CD1F19-D97F-4260-86E1-791EA33C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666875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45" name="stage-6-title">
            <a:extLst xmlns:a="http://schemas.openxmlformats.org/drawingml/2006/main">
              <a:ext uri="{FF2B5EF4-FFF2-40B4-BE49-F238E27FC236}">
                <a16:creationId xmlns:a16="http://schemas.microsoft.com/office/drawing/2014/main" id="{C20D6CDE-9C96-4279-A2BC-8F14CCEA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733550"/>
            <a:ext cx="1533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stage-6-body">
            <a:extLst xmlns:a="http://schemas.openxmlformats.org/drawingml/2006/main">
              <a:ext uri="{FF2B5EF4-FFF2-40B4-BE49-F238E27FC236}">
                <a16:creationId xmlns:a16="http://schemas.microsoft.com/office/drawing/2014/main" id="{6FBBC110-F5DC-4870-8763-5BC0FA0D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190750"/>
            <a:ext cx="15335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Run the bounded action; re-check health and roll back if needed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820F5B-092A-4A08-B714-E6417C0C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790700"/>
            <a:ext cx="276225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BF93E2-08EA-4063-A8DD-823E20E9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800225"/>
            <a:ext cx="200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2CD468-07F6-4F25-B0DF-361A4EC5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781175"/>
            <a:ext cx="110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7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Execute + verify</a:t>
            </a:r>
          </a:p>
        </p:txBody>
      </p:sp>
      <p:cxnSp>
        <p:nvCxnSpPr>
          <p:cNvPr id="297" name=""/>
          <p:cNvCxnSpPr>
            <a:stCxn xmlns:a="http://schemas.openxmlformats.org/drawingml/2006/main" id="35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810750" y="257175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0BA78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EC66BD-EE42-43B0-8851-C0B7D216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7623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TWO EXECUTION PATHS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46996A-709D-412F-BAC8-C153DB91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38600"/>
            <a:ext cx="7334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CF6E9"/>
          </a:solidFill>
          <a:ln xmlns:a="http://schemas.openxmlformats.org/drawingml/2006/main" w="14288">
            <a:solidFill>
              <a:srgbClr val="8BDFB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2D1873-4312-4659-A8CA-F5AC7100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5290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57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5754A"/>
                </a:solidFill>
                <a:latin typeface="Helvetica Neue"/>
                <a:ea typeface="Helvetica Neue"/>
                <a:cs typeface="Helvetica Neue"/>
              </a:rPr>
              <a:t>PRODUCTION DEFAULT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8895D3-08DD-48D1-B4BF-594CDD06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20002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DFB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FA695A3-AFD6-4D4B-A3C4-E387E634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56" name="Fleet MCP-title">
            <a:extLst xmlns:a="http://schemas.openxmlformats.org/drawingml/2006/main">
              <a:ext uri="{FF2B5EF4-FFF2-40B4-BE49-F238E27FC236}">
                <a16:creationId xmlns:a16="http://schemas.microsoft.com/office/drawing/2014/main" id="{B4CC1AA3-E0FC-475A-A900-2684FBCF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177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Fleet MCP</a:t>
            </a:r>
          </a:p>
        </p:txBody>
      </p:sp>
      <p:sp>
        <p:nvSpPr>
          <p:cNvPr id="57" name="Fleet MCP-body">
            <a:extLst xmlns:a="http://schemas.openxmlformats.org/drawingml/2006/main">
              <a:ext uri="{FF2B5EF4-FFF2-40B4-BE49-F238E27FC236}">
                <a16:creationId xmlns:a16="http://schemas.microsoft.com/office/drawing/2014/main" id="{0D7C9D7C-E55C-4921-BF97-C13DFAD8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SUSE Multi-Linux Manager / Uyuni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D344A8-D90B-42C6-AEF0-82B6A6DB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29125"/>
            <a:ext cx="2238375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DFB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C834F0C-8FE8-46CE-877C-CC0BD6A0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29125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60" name="Multi-Linux Manager-title">
            <a:extLst xmlns:a="http://schemas.openxmlformats.org/drawingml/2006/main">
              <a:ext uri="{FF2B5EF4-FFF2-40B4-BE49-F238E27FC236}">
                <a16:creationId xmlns:a16="http://schemas.microsoft.com/office/drawing/2014/main" id="{E18F48E7-6A16-49DC-B1B8-82C32426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95800"/>
            <a:ext cx="20097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Multi-Linux Manager</a:t>
            </a:r>
          </a:p>
        </p:txBody>
      </p:sp>
      <p:sp>
        <p:nvSpPr>
          <p:cNvPr id="61" name="Multi-Linux Manager-body">
            <a:extLst xmlns:a="http://schemas.openxmlformats.org/drawingml/2006/main">
              <a:ext uri="{FF2B5EF4-FFF2-40B4-BE49-F238E27FC236}">
                <a16:creationId xmlns:a16="http://schemas.microsoft.com/office/drawing/2014/main" id="{100AF532-DCAB-4E2F-819A-7C37A0D7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724400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Inventory • patches • CVEs • content • audit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689C8FF-A324-48E8-A1DB-4EA96A97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429125"/>
            <a:ext cx="23622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DFB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848A69F-23BD-4316-8B66-D85BFF4B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429125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64" name="Managed Linux estate-title">
            <a:extLst xmlns:a="http://schemas.openxmlformats.org/drawingml/2006/main">
              <a:ext uri="{FF2B5EF4-FFF2-40B4-BE49-F238E27FC236}">
                <a16:creationId xmlns:a16="http://schemas.microsoft.com/office/drawing/2014/main" id="{26CDDED6-8DE9-4C29-A742-0C1D0403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4958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Managed Linux estate</a:t>
            </a:r>
          </a:p>
        </p:txBody>
      </p:sp>
      <p:sp>
        <p:nvSpPr>
          <p:cNvPr id="65" name="Managed Linux estate-body">
            <a:extLst xmlns:a="http://schemas.openxmlformats.org/drawingml/2006/main">
              <a:ext uri="{FF2B5EF4-FFF2-40B4-BE49-F238E27FC236}">
                <a16:creationId xmlns:a16="http://schemas.microsoft.com/office/drawing/2014/main" id="{CBE74411-DB7D-41BF-931B-68D86D9E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72440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SLES • RHEL / clones • Ubuntu / Debian via Salt / SSH / Ansible</a:t>
            </a:r>
          </a:p>
        </p:txBody>
      </p:sp>
      <p:cxnSp>
        <p:nvCxnSpPr>
          <p:cNvPr id="313" name=""/>
          <p:cNvCxnSpPr>
            <a:stCxn xmlns:a="http://schemas.openxmlformats.org/drawingml/2006/main" id="54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2590800" y="47815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0BA78"/>
            </a:solidFill>
            <a:prstDash val="solid"/>
            <a:tailEnd type="triangle" w="sm" len="sm"/>
          </a:ln>
        </p:spPr>
      </p:cxnSp>
      <p:cxnSp>
        <p:nvCxnSpPr>
          <p:cNvPr id="314" name=""/>
          <p:cNvCxnSpPr>
            <a:stCxn xmlns:a="http://schemas.openxmlformats.org/drawingml/2006/main" id="58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5019675" y="47815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0BA78"/>
            </a:solidFill>
            <a:prstDash val="solid"/>
            <a:tailEnd type="triangle" w="sm" len="sm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CC84E86-39B6-468D-BF44-ECC96C72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38600"/>
            <a:ext cx="3810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E9FD"/>
          </a:solidFill>
          <a:ln xmlns:a="http://schemas.openxmlformats.org/drawingml/2006/main" w="14288">
            <a:solidFill>
              <a:srgbClr val="B9A8F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FFCBB7E-127C-4284-B6DF-A2CD3EFA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52900"/>
            <a:ext cx="3476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C5C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C5CE4"/>
                </a:solidFill>
                <a:latin typeface="Helvetica Neue"/>
                <a:ea typeface="Helvetica Neue"/>
                <a:cs typeface="Helvetica Neue"/>
              </a:rPr>
              <a:t>NARROW EXCEPTION • TECHNOLOGY PREVIEW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9F6F9E1-C4B2-438D-81AA-89A8AD2E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29125"/>
            <a:ext cx="1571625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A8F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F9F2526-AE95-445B-8B59-86F4B154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29125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E4"/>
          </a:solidFill>
          <a:ln xmlns:a="http://schemas.openxmlformats.org/drawingml/2006/main" w="0">
            <a:solidFill>
              <a:srgbClr val="7C5CE4"/>
            </a:solidFill>
            <a:prstDash val="solid"/>
          </a:ln>
        </p:spPr>
      </p:sp>
      <p:sp>
        <p:nvSpPr>
          <p:cNvPr id="72" name="Direct host MCP-title">
            <a:extLst xmlns:a="http://schemas.openxmlformats.org/drawingml/2006/main">
              <a:ext uri="{FF2B5EF4-FFF2-40B4-BE49-F238E27FC236}">
                <a16:creationId xmlns:a16="http://schemas.microsoft.com/office/drawing/2014/main" id="{7F79619C-7B1E-46C1-A028-61CDB777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95800"/>
            <a:ext cx="1343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Direct host MCP</a:t>
            </a:r>
          </a:p>
        </p:txBody>
      </p:sp>
      <p:sp>
        <p:nvSpPr>
          <p:cNvPr id="73" name="Direct host MCP-body">
            <a:extLst xmlns:a="http://schemas.openxmlformats.org/drawingml/2006/main">
              <a:ext uri="{FF2B5EF4-FFF2-40B4-BE49-F238E27FC236}">
                <a16:creationId xmlns:a16="http://schemas.microsoft.com/office/drawing/2014/main" id="{5F81393A-8C85-46BD-894F-D7EC0ACC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24400"/>
            <a:ext cx="1343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OpenShell-scoped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6B01D93-7C65-44B1-92E6-F2C8C444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29125"/>
            <a:ext cx="1724025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A8F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553EA41-5C6E-46FE-A136-298782DD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29125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E4"/>
          </a:solidFill>
          <a:ln xmlns:a="http://schemas.openxmlformats.org/drawingml/2006/main" w="0">
            <a:solidFill>
              <a:srgbClr val="7C5CE4"/>
            </a:solidFill>
            <a:prstDash val="solid"/>
          </a:ln>
        </p:spPr>
      </p:sp>
      <p:sp>
        <p:nvSpPr>
          <p:cNvPr id="76" name="SLES 16 MCP host-title">
            <a:extLst xmlns:a="http://schemas.openxmlformats.org/drawingml/2006/main">
              <a:ext uri="{FF2B5EF4-FFF2-40B4-BE49-F238E27FC236}">
                <a16:creationId xmlns:a16="http://schemas.microsoft.com/office/drawing/2014/main" id="{EA3BD21D-B78E-41A8-AFC6-9DEF92C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95800"/>
            <a:ext cx="1495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SLES 16 MCP host</a:t>
            </a:r>
          </a:p>
        </p:txBody>
      </p:sp>
      <p:sp>
        <p:nvSpPr>
          <p:cNvPr id="77" name="SLES 16 MCP host-body">
            <a:extLst xmlns:a="http://schemas.openxmlformats.org/drawingml/2006/main">
              <a:ext uri="{FF2B5EF4-FFF2-40B4-BE49-F238E27FC236}">
                <a16:creationId xmlns:a16="http://schemas.microsoft.com/office/drawing/2014/main" id="{C65C5D5F-6B8C-4454-8566-30331038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24400"/>
            <a:ext cx="1495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Opt-in tools for one system</a:t>
            </a:r>
          </a:p>
        </p:txBody>
      </p:sp>
      <p:cxnSp>
        <p:nvCxnSpPr>
          <p:cNvPr id="325" name=""/>
          <p:cNvCxnSpPr>
            <a:stCxn xmlns:a="http://schemas.openxmlformats.org/drawingml/2006/main" id="70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9686925" y="478155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5CE4"/>
            </a:solidFill>
            <a:prstDash val="dash"/>
            <a:tailEnd type="triangle" w="sm" len="sm"/>
          </a:ln>
        </p:spPr>
      </p:cxnSp>
      <p:cxnSp>
        <p:nvCxnSpPr>
          <p:cNvPr id="326" name=""/>
          <p:cNvCxnSpPr>
            <a:stCxn xmlns:a="http://schemas.openxmlformats.org/drawingml/2006/main" id="43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 flipH="1">
            <a:off x="4095750" y="3476625"/>
            <a:ext cx="6738938" cy="5619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0BA78"/>
            </a:solidFill>
            <a:prstDash val="solid"/>
            <a:tailEnd type="triangle" w="sm" len="sm"/>
          </a:ln>
        </p:spPr>
      </p:cxnSp>
      <p:cxnSp>
        <p:nvCxnSpPr>
          <p:cNvPr id="327" name=""/>
          <p:cNvCxnSpPr>
            <a:stCxn xmlns:a="http://schemas.openxmlformats.org/drawingml/2006/main" id="43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 flipH="1">
            <a:off x="9858375" y="3476625"/>
            <a:ext cx="976313" cy="5619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C5CE4"/>
            </a:solidFill>
            <a:prstDash val="dash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6E012E2-15D0-4F48-B6A9-2D824995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1133475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102A3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550CC6D-C535-476B-987D-5B320C97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435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FC7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FC7D0"/>
                </a:solidFill>
                <a:latin typeface="Helvetica Neue"/>
                <a:ea typeface="Helvetica Neue"/>
                <a:cs typeface="Helvetica Neue"/>
              </a:rPr>
              <a:t>CLOSE THE LOOP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BFEBD59-06D7-4B92-8AE0-ABB273E8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695950"/>
            <a:ext cx="4143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SUSE Observability confirms metrics / logs / traces and topology recovery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C33DFEF-DFF0-46D9-B3BC-9A61E154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95950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1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SUSE Security confirms vulnerability and runtime posture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73E8EF9-4C4D-4C7A-B447-757A4CF0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15000"/>
            <a:ext cx="1476375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185854C-9C54-4698-853D-FA2785D7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724525"/>
            <a:ext cx="1400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02A36"/>
                </a:solidFill>
                <a:latin typeface="Helvetica Neue"/>
                <a:ea typeface="Helvetica Neue"/>
                <a:cs typeface="Helvetica Neue"/>
              </a:rPr>
              <a:t>verify or roll back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AC8570F-0EA7-4DA1-9144-C49CBA0A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038850"/>
            <a:ext cx="942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B7D6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7D6E1"/>
                </a:solidFill>
                <a:latin typeface="Helvetica Neue"/>
                <a:ea typeface="Helvetica Neue"/>
                <a:cs typeface="Helvetica Neue"/>
              </a:rPr>
              <a:t>Evidence, tool arguments, approvals, model-route decisions, tokens, latency, and change results remain auditable.</a:t>
            </a:r>
          </a:p>
        </p:txBody>
      </p:sp>
    </p:spTree>
    <p:extLst>
      <p:ext uri="{BB962C8B-B14F-4D97-AF65-F5344CB8AC3E}">
        <p14:creationId xmlns:p14="http://schemas.microsoft.com/office/powerpoint/2010/main" val="8254381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77F93E-5AC7-420E-8114-53828D3E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57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Trust boundaries and interfaces drive the implementation topology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BD9695C-32A8-41E2-A5C2-E0480994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667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Separate control, workload, data/telemetry, and Linux-management planes; connect them through explicit contracts.</a:t>
            </a:r>
          </a:p>
        </p:txBody>
      </p:sp>
      <p:sp>
        <p:nvSpPr>
          <p:cNvPr id="3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FD77B8DB-566D-45C3-BFA2-0CA27D9E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23925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9F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B9FD4"/>
                </a:solidFill>
                <a:latin typeface="Helvetica Neue"/>
                <a:ea typeface="Helvetica Neue"/>
                <a:cs typeface="Helvetica Neue"/>
              </a:rPr>
              <a:t>IMPLEMENTATION TOPOLOGY  •  V1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15D01-1CFE-46C9-999C-1604863A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2343150" cy="3590925"/>
          </a:xfrm>
          <a:prstGeom xmlns:a="http://schemas.openxmlformats.org/drawingml/2006/main" prst="roundRect">
            <a:avLst>
              <a:gd name="adj" fmla="val 5285"/>
            </a:avLst>
          </a:prstGeom>
          <a:solidFill xmlns:a="http://schemas.openxmlformats.org/drawingml/2006/main">
            <a:srgbClr val="DCF6E9"/>
          </a:solidFill>
          <a:ln xmlns:a="http://schemas.openxmlformats.org/drawingml/2006/main" w="14288">
            <a:solidFill>
              <a:srgbClr val="30BA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C281F-B80C-4E23-ACBB-ED75F18F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352550"/>
            <a:ext cx="5534025" cy="35909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EF1F3"/>
          </a:solidFill>
          <a:ln xmlns:a="http://schemas.openxmlformats.org/drawingml/2006/main" w="14288">
            <a:solidFill>
              <a:srgbClr val="173A4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97206-C85E-4333-9896-14570239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352550"/>
            <a:ext cx="3248025" cy="3590925"/>
          </a:xfrm>
          <a:prstGeom xmlns:a="http://schemas.openxmlformats.org/drawingml/2006/main" prst="roundRect">
            <a:avLst>
              <a:gd name="adj" fmla="val 3812"/>
            </a:avLst>
          </a:prstGeom>
          <a:solidFill xmlns:a="http://schemas.openxmlformats.org/drawingml/2006/main">
            <a:srgbClr val="EEE9FD"/>
          </a:solidFill>
          <a:ln xmlns:a="http://schemas.openxmlformats.org/drawingml/2006/main" w="14288">
            <a:solidFill>
              <a:srgbClr val="7C5C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FEB1E-812A-4B59-9A3F-3666FF22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391900" cy="1323975"/>
          </a:xfrm>
          <a:prstGeom xmlns:a="http://schemas.openxmlformats.org/drawingml/2006/main" prst="roundRect">
            <a:avLst>
              <a:gd name="adj" fmla="val 9353"/>
            </a:avLst>
          </a:prstGeom>
          <a:solidFill xmlns:a="http://schemas.openxmlformats.org/drawingml/2006/main">
            <a:srgbClr val="DCF6E9"/>
          </a:solidFill>
          <a:ln xmlns:a="http://schemas.openxmlformats.org/drawingml/2006/main" w="14288">
            <a:solidFill>
              <a:srgbClr val="30BA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415EA-162E-44A3-8C81-4F8E7A6C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192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5754A"/>
                </a:solidFill>
                <a:latin typeface="Helvetica Neue"/>
                <a:ea typeface="Helvetica Neue"/>
                <a:cs typeface="Helvetica Neue"/>
              </a:rPr>
              <a:t>MANAGEMENT CLUSTER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398B9-5633-4C80-ABFA-80F89AC9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419225"/>
            <a:ext cx="5267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3A48"/>
                </a:solidFill>
                <a:latin typeface="Helvetica Neue"/>
                <a:ea typeface="Helvetica Neue"/>
                <a:cs typeface="Helvetica Neue"/>
              </a:rPr>
              <a:t>AI WORKLOAD CLUSTER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1D92D-97E6-49FC-B2B0-FD59FE37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419225"/>
            <a:ext cx="2981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5C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C5CE4"/>
                </a:solidFill>
                <a:latin typeface="Helvetica Neue"/>
                <a:ea typeface="Helvetica Neue"/>
                <a:cs typeface="Helvetica Neue"/>
              </a:rPr>
              <a:t>DATA + OBSERVABILITY CLUSTERS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68B87-F4DA-4F18-802F-184ED3E9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0175"/>
            <a:ext cx="1112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5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5754A"/>
                </a:solidFill>
                <a:latin typeface="Helvetica Neue"/>
                <a:ea typeface="Helvetica Neue"/>
                <a:cs typeface="Helvetica Neue"/>
              </a:rPr>
              <a:t>LINUX MANAGEMENT PLANE + ESTATE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8B5A1-A80F-4DCA-9A32-DEB9E239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85925"/>
            <a:ext cx="2057400" cy="657225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E5D88-F8B4-404A-A740-D985794B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85925"/>
            <a:ext cx="571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7802A-2DCC-4D27-9633-EE1164B0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43075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Rancher Prime on RKE2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A725C-CF58-4B96-9DCE-5963DD8E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52625"/>
            <a:ext cx="186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HA control plane • downstream cluster registration • Kubernetes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45B339-E9AC-4751-926F-6624722B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28875"/>
            <a:ext cx="2057400" cy="657225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B6B3CA-0F60-43C4-B7FC-40F33648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28875"/>
            <a:ext cx="571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FD4"/>
          </a:solidFill>
          <a:ln xmlns:a="http://schemas.openxmlformats.org/drawingml/2006/main" w="0">
            <a:solidFill>
              <a:srgbClr val="0B9F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232346-419D-459D-92E0-51D100E4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86025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AI Factory + Fleet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4A31C8-F5B7-4FBD-B18F-CAF7F8E2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95575"/>
            <a:ext cx="186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Operator/UI • immutable blueprints • GitOps reconciliation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81D86E-E87A-4A8A-87A6-BA023066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71825"/>
            <a:ext cx="2057400" cy="7239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F2C9"/>
          </a:solidFill>
          <a:ln xmlns:a="http://schemas.openxmlformats.org/drawingml/2006/main" w="9525">
            <a:solidFill>
              <a:srgbClr val="E6C5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971AC1-0C0F-45C1-94CD-D4D71D41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71825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A400"/>
          </a:solidFill>
          <a:ln xmlns:a="http://schemas.openxmlformats.org/drawingml/2006/main" w="0">
            <a:solidFill>
              <a:srgbClr val="ECA4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400B52-7251-4806-94CA-0CF1C329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28975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Enterprise trust services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C58057-2E4A-4E0D-BFF5-8F930511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3852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OIDC groups • workload identity • PKI/mTLS • external secrets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FB5BD5-90D1-48AA-AA14-9B15CF87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981450"/>
            <a:ext cx="2057400" cy="78105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E9A8A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9A3463-9130-4F35-9C6D-1AAE6E3F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9814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8B5E47-541A-4418-A0B4-C35DA62A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38600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SUSE Security control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206FE9-9778-49B9-AFDF-EDCBEC30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4815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Manager • 3x Controller HA • Scanner • admission policy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CF0FA4-79E2-44EE-88DE-683A1365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676400"/>
            <a:ext cx="5248275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102A3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DCDF08-E563-4270-9FCF-3B2A647E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430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FC7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FC7D0"/>
                </a:solidFill>
                <a:latin typeface="Helvetica Neue"/>
                <a:ea typeface="Helvetica Neue"/>
                <a:cs typeface="Helvetica Neue"/>
              </a:rPr>
              <a:t>namespace: agent-control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CE0B4F-2786-4A53-A092-E1B4EF05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71675"/>
            <a:ext cx="1171575" cy="8382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2DF69D-A3D0-4B5B-9515-84E6FBB0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71675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FD4"/>
          </a:solidFill>
          <a:ln xmlns:a="http://schemas.openxmlformats.org/drawingml/2006/main" w="0">
            <a:solidFill>
              <a:srgbClr val="0B9F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6BB95A-AA58-4431-BA0A-E2618550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28825"/>
            <a:ext cx="981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5319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OpenShell Gateway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EFCBDE-8D38-4729-A215-3ACCC9BC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38375"/>
            <a:ext cx="98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Auth • policy store • sandbox lifecycle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3D8871-ED18-4853-8E8F-BB0B6E8D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71675"/>
            <a:ext cx="1257300" cy="8382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BD42B1-70E8-434B-A11B-E6B62B7A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71675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FD4"/>
          </a:solidFill>
          <a:ln xmlns:a="http://schemas.openxmlformats.org/drawingml/2006/main" w="0">
            <a:solidFill>
              <a:srgbClr val="0B9F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B3C73F-A93B-41E0-A7E7-22989671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28825"/>
            <a:ext cx="1066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5965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Supervisor + Hermes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B9697B-30CA-4826-B4FB-F6F7468A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Restricted child • egress proxy • audit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7CD741-D219-4DA8-A1CB-EAF0F008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71675"/>
            <a:ext cx="1133475" cy="8382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24C2CD-C0D4-43A5-A6C2-EEC5DAAA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71675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E4"/>
          </a:solidFill>
          <a:ln xmlns:a="http://schemas.openxmlformats.org/drawingml/2006/main" w="0">
            <a:solidFill>
              <a:srgbClr val="7C5CE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C4F8A0-89D8-4599-B811-7207D453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28825"/>
            <a:ext cx="942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Agent Toolkit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BF78CF-8F70-4C77-9033-9C65934A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238375"/>
            <a:ext cx="942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Typed function groups • MCP clients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D85F96-6335-4DBF-8222-61EED2E7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71675"/>
            <a:ext cx="1152525" cy="8382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F7ADE2-0471-4B83-BE3E-D4BA505A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71675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EA81C3-0886-4431-8BBC-9CD075AC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28825"/>
            <a:ext cx="962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Universal Proxy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4EBF8E-6F5D-44E9-874B-8CAE3D6F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962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Governed MCP bridge • tech preview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B2F6D7-9A25-4DB2-BCDA-9C07BB81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95625"/>
            <a:ext cx="52482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9FD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305E37-851B-42E1-96A7-571837D3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623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9F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B9FD4"/>
                </a:solidFill>
                <a:latin typeface="Helvetica Neue"/>
                <a:ea typeface="Helvetica Neue"/>
                <a:cs typeface="Helvetica Neue"/>
              </a:rPr>
              <a:t>namespace: inference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754D7F-392A-4AF5-9EB8-A12AB97C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90900"/>
            <a:ext cx="116205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DDF4FC"/>
          </a:solidFill>
          <a:ln xmlns:a="http://schemas.openxmlformats.org/drawingml/2006/main" w="9525">
            <a:solidFill>
              <a:srgbClr val="8ED9F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926DF5-E428-438C-B4F0-0A1A295E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9090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FD4"/>
          </a:solidFill>
          <a:ln xmlns:a="http://schemas.openxmlformats.org/drawingml/2006/main" w="0">
            <a:solidFill>
              <a:srgbClr val="0B9FD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850F76-7D11-4A92-A717-AD143C42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48050"/>
            <a:ext cx="971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Switchyard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F1B7419-4027-407B-9BB8-3C541263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576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Per-request route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E94889-A59B-481C-98AF-7C7780DB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90900"/>
            <a:ext cx="120015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DDF4FC"/>
          </a:solidFill>
          <a:ln xmlns:a="http://schemas.openxmlformats.org/drawingml/2006/main" w="9525">
            <a:solidFill>
              <a:srgbClr val="8ED9F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D2E623-4818-4B90-BA17-C549BE95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9090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FD4"/>
          </a:solidFill>
          <a:ln xmlns:a="http://schemas.openxmlformats.org/drawingml/2006/main" w="0">
            <a:solidFill>
              <a:srgbClr val="0B9FD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427C62E-8F0A-4787-935B-31580BA4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48050"/>
            <a:ext cx="1009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NIM Operator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7F6286-1F94-4A6C-A95A-D95F4525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576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NIMCache • NIMService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6D83D4-B3B5-4CE0-8802-106D4922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90900"/>
            <a:ext cx="120015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DDF4FC"/>
          </a:solidFill>
          <a:ln xmlns:a="http://schemas.openxmlformats.org/drawingml/2006/main" w="9525">
            <a:solidFill>
              <a:srgbClr val="8ED9F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ECC633-6A80-4238-A2DD-6204A3AF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9090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FD4"/>
          </a:solidFill>
          <a:ln xmlns:a="http://schemas.openxmlformats.org/drawingml/2006/main" w="0">
            <a:solidFill>
              <a:srgbClr val="0B9FD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A9C5271-7EA3-4515-A18C-DF0F3EC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48050"/>
            <a:ext cx="1009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Nemotron NIM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842779D-E493-41A3-981C-570B0405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76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3.5 Lightning endpoint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0210C1D-3A52-4A02-B7A0-E9061F36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90900"/>
            <a:ext cx="1152525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EE9FD"/>
          </a:solidFill>
          <a:ln xmlns:a="http://schemas.openxmlformats.org/drawingml/2006/main" w="9525">
            <a:solidFill>
              <a:srgbClr val="B9A8F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ED878C8-96B5-471C-AA5D-5DE098D3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9090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E4"/>
          </a:solidFill>
          <a:ln xmlns:a="http://schemas.openxmlformats.org/drawingml/2006/main" w="0">
            <a:solidFill>
              <a:srgbClr val="7C5CE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1454A76-D590-4B5D-8BC1-000730FB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48050"/>
            <a:ext cx="962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Qwen 3.8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BD4FBDC-993B-44AE-B449-DCCA763E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962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vLLM / SUSE endpoint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287E864-BE42-4C5E-AF25-9A1F0850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1533525" cy="504825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87D7D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CC7A1FB-4862-4B79-BA19-DF21A45E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571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94"/>
          </a:solidFill>
          <a:ln xmlns:a="http://schemas.openxmlformats.org/drawingml/2006/main" w="0">
            <a:solidFill>
              <a:srgbClr val="1C9A9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2457285-B852-46AC-B963-F90EB6CA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52900"/>
            <a:ext cx="1343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708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Embedding + rerank NIMs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ACE58E6-3400-4135-A5C9-7FB2B503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62450"/>
            <a:ext cx="13430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Retriever acceleration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37CDECF-91D4-4EA4-B05C-55EA2F78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095750"/>
            <a:ext cx="1438275" cy="504825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DDF4FC"/>
          </a:solidFill>
          <a:ln xmlns:a="http://schemas.openxmlformats.org/drawingml/2006/main" w="9525">
            <a:solidFill>
              <a:srgbClr val="8ED9F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7DAD240-795B-4635-B3B6-C0F4D9C1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095750"/>
            <a:ext cx="571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FD4"/>
          </a:solidFill>
          <a:ln xmlns:a="http://schemas.openxmlformats.org/drawingml/2006/main" w="0">
            <a:solidFill>
              <a:srgbClr val="0B9FD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AA667A0-3605-4F92-8D60-D6147D24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152900"/>
            <a:ext cx="12477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Run:ai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5DC2CA1-A2FF-4412-B84E-6F9BE973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362450"/>
            <a:ext cx="12477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623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Queues • projects • GPU policy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A9D3A3C-1EA6-45D2-81AA-2F2CA040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1838325" cy="504825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DCF6E9"/>
          </a:solidFill>
          <a:ln xmlns:a="http://schemas.openxmlformats.org/drawingml/2006/main" w="9525">
            <a:solidFill>
              <a:srgbClr val="8BDFB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5A09679-082A-4CB6-835B-FAFBD331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571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1193E20-FE10-4A7E-B372-A156EDAC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2900"/>
            <a:ext cx="1647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GPU + Network Operators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2735E73-D208-4740-AB39-12EEDF96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62450"/>
            <a:ext cx="1647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Drivers • device plugin • RDMA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FD19725-BBD7-4107-B4CD-B107290B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85925"/>
            <a:ext cx="2962275" cy="542925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F38A28F-C1A5-4E5D-9F9B-4ABD0C63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85925"/>
            <a:ext cx="571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FD4"/>
          </a:solidFill>
          <a:ln xmlns:a="http://schemas.openxmlformats.org/drawingml/2006/main" w="0">
            <a:solidFill>
              <a:srgbClr val="0B9FD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783DEE2-B4DE-4AF6-9983-F444460F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43075"/>
            <a:ext cx="27717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NeMo Retriever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C63F3BA-6127-4236-A851-D21B296C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52625"/>
            <a:ext cx="27717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Extraction • chunking • indexing • query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FCCAC3A-B561-41B9-8A2B-23D7BBFF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14575"/>
            <a:ext cx="1438275" cy="638175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DDB5E8A-36A5-4EC8-9003-FACBB10D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14575"/>
            <a:ext cx="57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E4"/>
          </a:solidFill>
          <a:ln xmlns:a="http://schemas.openxmlformats.org/drawingml/2006/main" w="0">
            <a:solidFill>
              <a:srgbClr val="7C5CE4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38FE879-E66F-464B-AF7E-3E08C704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71725"/>
            <a:ext cx="12477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Qdrant / Milvus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61CFC8E-465F-4F89-AF0B-92F5338C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81275"/>
            <a:ext cx="1247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Persistent vector index • encrypted volumes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98A634E-B841-4E80-B3CC-F20FCBC9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14575"/>
            <a:ext cx="1438275" cy="638175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C18C633-9B6A-412C-AB91-87DA5AAE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14575"/>
            <a:ext cx="57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94"/>
          </a:solidFill>
          <a:ln xmlns:a="http://schemas.openxmlformats.org/drawingml/2006/main" w="0">
            <a:solidFill>
              <a:srgbClr val="1C9A94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5A4519D-F03A-4BE2-B91A-AB7162B4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371725"/>
            <a:ext cx="12477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OpenSearch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0783C7A-4F65-4273-9C61-75EF9EF9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81275"/>
            <a:ext cx="1247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Hybrid search • audit/search evidence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48D64A7-7CC3-45C6-ACE7-8F8A1FEB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38475"/>
            <a:ext cx="1438275" cy="638175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2C54664-FE1E-4867-A471-66E89E73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38475"/>
            <a:ext cx="57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A400"/>
          </a:solidFill>
          <a:ln xmlns:a="http://schemas.openxmlformats.org/drawingml/2006/main" w="0">
            <a:solidFill>
              <a:srgbClr val="ECA400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3E4A31E-E3D6-4678-BAE4-47BA61EA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95625"/>
            <a:ext cx="12477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Object store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6A0CF4D-E091-4282-8A7D-112A95F2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05175"/>
            <a:ext cx="1247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44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Documents • model cache • metadata • backups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417FCDC-A868-45F4-9C1E-6C9F5A7A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38475"/>
            <a:ext cx="1438275" cy="638175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9C4F4F1-D8E6-42F2-8267-F54D55BA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38475"/>
            <a:ext cx="57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A400"/>
          </a:solidFill>
          <a:ln xmlns:a="http://schemas.openxmlformats.org/drawingml/2006/main" w="0">
            <a:solidFill>
              <a:srgbClr val="ECA400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D27A816-D10E-436C-B835-5978A98B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95625"/>
            <a:ext cx="12477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ML lifecycle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FB0DBEC-3E05-4724-8BF8-52EFF97D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305175"/>
            <a:ext cx="1247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MLflow / Kubeflow • evaluation • lineage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F21DD0D-572E-494B-B7A0-01D636C7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62375"/>
            <a:ext cx="1438275" cy="9429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87D7D2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31812D5-CB22-4E76-9948-5D2753F6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62375"/>
            <a:ext cx="571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94"/>
          </a:solidFill>
          <a:ln xmlns:a="http://schemas.openxmlformats.org/drawingml/2006/main" w="0">
            <a:solidFill>
              <a:srgbClr val="1C9A94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B1D4D72-4248-40AA-9269-8E751A88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19525"/>
            <a:ext cx="12477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OTel Collectors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0F20C9A-5781-472B-83BD-551A2C2D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29075"/>
            <a:ext cx="12477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Daemon/gateway • OTLP 4317/4318 • enrich, batch, filter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84528B0-B65C-42F2-81A6-B473A22D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762375"/>
            <a:ext cx="1438275" cy="9429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F5F3"/>
          </a:solidFill>
          <a:ln xmlns:a="http://schemas.openxmlformats.org/drawingml/2006/main" w="9525">
            <a:solidFill>
              <a:srgbClr val="87D7D2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D1099F3-3A82-4A08-BECF-86A6F4E8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762375"/>
            <a:ext cx="571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A94"/>
          </a:solidFill>
          <a:ln xmlns:a="http://schemas.openxmlformats.org/drawingml/2006/main" w="0">
            <a:solidFill>
              <a:srgbClr val="1C9A94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0EF44F3-CE86-4296-BD7C-75C6085C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819525"/>
            <a:ext cx="1247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SUSE Observability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CF39DE6-01E8-4AAB-A465-5E48039A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152900"/>
            <a:ext cx="1247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Topology • metrics • traces • logs • SLO alerts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F82E830-0F3B-4515-ABC6-3300DBC2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1952625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DFB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5B2FB5B-10B7-4F9F-9F71-1B6B5490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0267CF3-145F-4CF5-8681-E5CE3A48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Fleet MCP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DAF6F38-4DBD-4D86-88C5-1B2BB753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Uyuni / MLM • HTTP + OAuth/mTLS • writes policy-gated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D8183FB-E048-432D-9854-C92CA75C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76875"/>
            <a:ext cx="20764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DFB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7C9D41B-6BB9-420F-A397-42822AEE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7687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9088544-EA7D-4A56-BFC2-BC849AE9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34025"/>
            <a:ext cx="1885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SUSE Multi-Linux Manager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0D8B2A2-FCCB-4250-9353-15A80A78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43575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Inventory • CVEs • content lifecycle • action/audit history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BB77BEA-B1B0-4CE2-AAF5-A5DBE47D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476875"/>
            <a:ext cx="1628775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2C9"/>
          </a:solidFill>
          <a:ln xmlns:a="http://schemas.openxmlformats.org/drawingml/2006/main" w="9525">
            <a:solidFill>
              <a:srgbClr val="E6C55E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BC5AB79-7B64-4155-8000-B46B47AB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47687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A400"/>
          </a:solidFill>
          <a:ln xmlns:a="http://schemas.openxmlformats.org/drawingml/2006/main" w="0">
            <a:solidFill>
              <a:srgbClr val="ECA40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7136875-1D7F-499A-8680-B7732B9D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534025"/>
            <a:ext cx="14382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Execution channels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BE86CAC-9C61-42B0-BF0B-F6348BD2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743575"/>
            <a:ext cx="1438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Salt 4505/4506 • SSH 22 • Ansible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2B628E2-A11C-4BF3-A7D4-8667D405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476875"/>
            <a:ext cx="152400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DFB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B089AE2-B08D-4BEE-B93D-8C7171B6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47687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5F7540C-63E8-4076-805A-1D52359D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5534025"/>
            <a:ext cx="1333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SLES 16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306711D-7F26-441F-8701-19F5B2E7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57435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Managed node • optional mcphost path (tech preview)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2DC5616-A83E-4ABB-8123-09D0FE57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476875"/>
            <a:ext cx="152400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FEABCEB-CC16-4475-8B42-DBCFE1E1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47687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solidFill>
              <a:srgbClr val="C7CDD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71C37F2-44F5-45E9-AD90-D1459FFD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34025"/>
            <a:ext cx="1333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RHEL / clones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B5F61B5-6FB0-4451-9349-0BCE4B9F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7435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Managed through Salt / SSH / Ansible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226BBED-A3FC-4E2A-9A2A-AEF28B5D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476875"/>
            <a:ext cx="1666875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77D3F50-C15C-49D6-86C1-3F83D7B0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47687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solidFill>
              <a:srgbClr val="C7CDD3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FA0E403-C70A-4F7D-9450-06EA4390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5534025"/>
            <a:ext cx="1476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Ubuntu / Debian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F206366-53B4-4C20-BACA-520BEF90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5743575"/>
            <a:ext cx="147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Managed through Salt / SSH / Ansible</a:t>
            </a:r>
          </a:p>
        </p:txBody>
      </p:sp>
      <p:cxnSp>
        <p:nvCxnSpPr>
          <p:cNvPr id="281" name=""/>
          <p:cNvCxnSpPr>
            <a:stCxn xmlns:a="http://schemas.openxmlformats.org/drawingml/2006/main" id="12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571625" y="2343150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0BA78"/>
            </a:solidFill>
            <a:prstDash val="solid"/>
            <a:tailEnd type="triangle" w="sm" len="sm"/>
          </a:ln>
        </p:spPr>
      </p:cxnSp>
      <p:cxnSp>
        <p:nvCxnSpPr>
          <p:cNvPr id="282" name=""/>
          <p:cNvCxnSpPr>
            <a:stCxn xmlns:a="http://schemas.openxmlformats.org/drawingml/2006/main" id="16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V="1">
            <a:off x="2600325" y="2390775"/>
            <a:ext cx="542925" cy="3667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0B9FD4"/>
            </a:solidFill>
            <a:prstDash val="solid"/>
            <a:tailEnd type="triangle" w="sm" len="sm"/>
          </a:ln>
        </p:spPr>
      </p:cxnSp>
      <p:cxnSp>
        <p:nvCxnSpPr>
          <p:cNvPr id="283" name=""/>
          <p:cNvCxnSpPr>
            <a:stCxn xmlns:a="http://schemas.openxmlformats.org/drawingml/2006/main" id="30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4314825" y="23907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B9FD4"/>
            </a:solidFill>
            <a:prstDash val="solid"/>
            <a:tailEnd type="triangle" w="sm" len="sm"/>
          </a:ln>
        </p:spPr>
      </p:cxnSp>
      <p:cxnSp>
        <p:nvCxnSpPr>
          <p:cNvPr id="284" name=""/>
          <p:cNvCxnSpPr>
            <a:stCxn xmlns:a="http://schemas.openxmlformats.org/drawingml/2006/main" id="34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5667375" y="23907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C5CE4"/>
            </a:solidFill>
            <a:prstDash val="solid"/>
            <a:tailEnd type="triangle" w="sm" len="sm"/>
          </a:ln>
        </p:spPr>
      </p:cxnSp>
      <p:cxnSp>
        <p:nvCxnSpPr>
          <p:cNvPr id="285" name=""/>
          <p:cNvCxnSpPr>
            <a:stCxn xmlns:a="http://schemas.openxmlformats.org/drawingml/2006/main" id="38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6896100" y="23907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0BA78"/>
            </a:solidFill>
            <a:prstDash val="solid"/>
            <a:tailEnd type="triangle" w="sm" len="sm"/>
          </a:ln>
        </p:spPr>
      </p:cxnSp>
      <p:cxnSp>
        <p:nvCxnSpPr>
          <p:cNvPr id="286" name=""/>
          <p:cNvCxnSpPr>
            <a:stCxn xmlns:a="http://schemas.openxmlformats.org/drawingml/2006/main" id="48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4305300" y="36861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B9FD4"/>
            </a:solidFill>
            <a:prstDash val="solid"/>
            <a:tailEnd type="triangle" w="sm" len="sm"/>
          </a:ln>
        </p:spPr>
      </p:cxnSp>
      <p:cxnSp>
        <p:nvCxnSpPr>
          <p:cNvPr id="287" name=""/>
          <p:cNvCxnSpPr>
            <a:stCxn xmlns:a="http://schemas.openxmlformats.org/drawingml/2006/main" id="52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5600700" y="36861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B9FD4"/>
            </a:solidFill>
            <a:prstDash val="solid"/>
            <a:tailEnd type="triangle" w="sm" len="sm"/>
          </a:ln>
        </p:spPr>
      </p:cxnSp>
      <p:cxnSp>
        <p:nvCxnSpPr>
          <p:cNvPr id="288" name=""/>
          <p:cNvCxnSpPr>
            <a:stCxn xmlns:a="http://schemas.openxmlformats.org/drawingml/2006/main" id="48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4305300" y="3686175"/>
            <a:ext cx="26860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C5CE4"/>
            </a:solidFill>
            <a:prstDash val="solid"/>
            <a:tailEnd type="triangle" w="sm" len="sm"/>
          </a:ln>
        </p:spPr>
      </p:cxnSp>
      <p:cxnSp>
        <p:nvCxnSpPr>
          <p:cNvPr id="289" name=""/>
          <p:cNvCxnSpPr>
            <a:stCxn xmlns:a="http://schemas.openxmlformats.org/drawingml/2006/main" id="76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 flipH="1">
            <a:off x="9405938" y="2228850"/>
            <a:ext cx="76200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C5CE4"/>
            </a:solidFill>
            <a:prstDash val="solid"/>
            <a:tailEnd type="triangle" w="sm" len="sm"/>
          </a:ln>
        </p:spPr>
      </p:cxnSp>
      <p:cxnSp>
        <p:nvCxnSpPr>
          <p:cNvPr id="290" name=""/>
          <p:cNvCxnSpPr>
            <a:stCxn xmlns:a="http://schemas.openxmlformats.org/drawingml/2006/main" id="76" idx="2"/>
            <a:endCxn xmlns:a="http://schemas.openxmlformats.org/drawingml/2006/main" id="84" idx="0"/>
          </p:cNvCxnSpPr>
          <p:nvPr/>
        </p:nvCxnSpPr>
        <p:spPr>
          <a:xfrm xmlns:a="http://schemas.openxmlformats.org/drawingml/2006/main">
            <a:off x="10167938" y="2228850"/>
            <a:ext cx="76200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C9A94"/>
            </a:solidFill>
            <a:prstDash val="solid"/>
            <a:tailEnd type="triangle" w="sm" len="sm"/>
          </a:ln>
        </p:spPr>
      </p:cxnSp>
      <p:cxnSp>
        <p:nvCxnSpPr>
          <p:cNvPr id="291" name=""/>
          <p:cNvCxnSpPr>
            <a:stCxn xmlns:a="http://schemas.openxmlformats.org/drawingml/2006/main" id="96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10125075" y="4233863"/>
            <a:ext cx="857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C9A94"/>
            </a:solidFill>
            <a:prstDash val="solid"/>
            <a:tailEnd type="triangle" w="sm" len="sm"/>
          </a:ln>
        </p:spPr>
      </p:cxnSp>
      <p:cxnSp>
        <p:nvCxnSpPr>
          <p:cNvPr id="292" name=""/>
          <p:cNvCxnSpPr>
            <a:stCxn xmlns:a="http://schemas.openxmlformats.org/drawingml/2006/main" id="104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2505075" y="584835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0BA78"/>
            </a:solidFill>
            <a:prstDash val="solid"/>
            <a:tailEnd type="triangle" w="sm" len="sm"/>
          </a:ln>
        </p:spPr>
      </p:cxnSp>
      <p:cxnSp>
        <p:nvCxnSpPr>
          <p:cNvPr id="293" name=""/>
          <p:cNvCxnSpPr>
            <a:stCxn xmlns:a="http://schemas.openxmlformats.org/drawingml/2006/main" id="108" idx="3"/>
            <a:endCxn xmlns:a="http://schemas.openxmlformats.org/drawingml/2006/main" id="112" idx="1"/>
          </p:cNvCxnSpPr>
          <p:nvPr/>
        </p:nvCxnSpPr>
        <p:spPr>
          <a:xfrm xmlns:a="http://schemas.openxmlformats.org/drawingml/2006/main">
            <a:off x="4724400" y="584835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ECA400"/>
            </a:solidFill>
            <a:prstDash val="solid"/>
            <a:tailEnd type="triangle" w="sm" len="sm"/>
          </a:ln>
        </p:spPr>
      </p:cxnSp>
      <p:cxnSp>
        <p:nvCxnSpPr>
          <p:cNvPr id="294" name=""/>
          <p:cNvCxnSpPr>
            <a:stCxn xmlns:a="http://schemas.openxmlformats.org/drawingml/2006/main" id="112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6496050" y="584835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0BA78"/>
            </a:solidFill>
            <a:prstDash val="solid"/>
            <a:tailEnd type="triangle" w="sm" len="sm"/>
          </a:ln>
        </p:spPr>
      </p:cxnSp>
      <p:cxnSp>
        <p:nvCxnSpPr>
          <p:cNvPr id="295" name=""/>
          <p:cNvCxnSpPr>
            <a:stCxn xmlns:a="http://schemas.openxmlformats.org/drawingml/2006/main" id="112" idx="3"/>
            <a:endCxn xmlns:a="http://schemas.openxmlformats.org/drawingml/2006/main" id="120" idx="1"/>
          </p:cNvCxnSpPr>
          <p:nvPr/>
        </p:nvCxnSpPr>
        <p:spPr>
          <a:xfrm xmlns:a="http://schemas.openxmlformats.org/drawingml/2006/main">
            <a:off x="6496050" y="58483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0BA78"/>
            </a:solidFill>
            <a:prstDash val="solid"/>
            <a:tailEnd type="triangle" w="sm" len="sm"/>
          </a:ln>
        </p:spPr>
      </p:cxnSp>
      <p:cxnSp>
        <p:nvCxnSpPr>
          <p:cNvPr id="296" name=""/>
          <p:cNvCxnSpPr>
            <a:stCxn xmlns:a="http://schemas.openxmlformats.org/drawingml/2006/main" id="112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6496050" y="5848350"/>
            <a:ext cx="3476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0BA78"/>
            </a:solidFill>
            <a:prstDash val="solid"/>
            <a:tailEnd type="triangle" w="sm" len="sm"/>
          </a:ln>
        </p:spPr>
      </p:cxn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2163733-24E3-42E0-96BE-01611C08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43125"/>
            <a:ext cx="4000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7A90129-73B6-425B-90E6-A36CD9CD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52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K8s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60858EB-9345-4BD4-9AC9-62F426C9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33600"/>
            <a:ext cx="48577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5CE4"/>
          </a:solidFill>
          <a:ln xmlns:a="http://schemas.openxmlformats.org/drawingml/2006/main" w="0">
            <a:solidFill>
              <a:srgbClr val="7C5CE4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56B87F93-2D43-4CA8-909C-17272B38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143125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RAG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CD4CBBA-E26C-426B-876C-13053EB5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152900"/>
            <a:ext cx="48577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9A94"/>
          </a:solidFill>
          <a:ln xmlns:a="http://schemas.openxmlformats.org/drawingml/2006/main" w="0">
            <a:solidFill>
              <a:srgbClr val="1C9A94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5588A43-57C6-488A-B172-8D33C491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162425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OTLP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FFEC8AE-8DDD-4DFD-B09A-85A0CB26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943475"/>
            <a:ext cx="15621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102A36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43FC8EC-7182-4392-B506-F2900137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5300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13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MCP HTTPS • OAuth/mTLS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1B42477D-8A54-4CD0-81CD-DF841590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848225"/>
            <a:ext cx="16002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991AC703-C585-48B9-8502-E881B9E4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857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13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Enforcer DaemonSet / node</a:t>
            </a:r>
          </a:p>
        </p:txBody>
      </p:sp>
    </p:spTree>
    <p:extLst>
      <p:ext uri="{BB962C8B-B14F-4D97-AF65-F5344CB8AC3E}">
        <p14:creationId xmlns:p14="http://schemas.microsoft.com/office/powerpoint/2010/main" val="8254381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F589E0-325E-4C2D-9D47-EAAFF235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363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Build in dependency order and promote only after each exit gate passes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65DD342-5DAA-48B4-A72B-E029F0D1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667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The implementation sequence creates trust and telemetry before model or remediation workloads receive production authority.</a:t>
            </a:r>
          </a:p>
        </p:txBody>
      </p:sp>
      <p:sp>
        <p:nvSpPr>
          <p:cNvPr id="3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95189D5D-E707-4C51-9296-97C6C701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23925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9F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B9FD4"/>
                </a:solidFill>
                <a:latin typeface="Helvetica Neue"/>
                <a:ea typeface="Helvetica Neue"/>
                <a:cs typeface="Helvetica Neue"/>
              </a:rPr>
              <a:t>BUILD SEQUENCE  •  V1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2AD73-CD64-4640-BD3D-F554AFC1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95425"/>
            <a:ext cx="26193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1F3"/>
          </a:solidFill>
          <a:ln xmlns:a="http://schemas.openxmlformats.org/drawingml/2006/main" w="14288">
            <a:solidFill>
              <a:srgbClr val="102A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B5F73-6071-4036-A2F8-A92DB408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192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102A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4A8DD-E50C-4EC1-A3FA-D745F719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628775"/>
            <a:ext cx="219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4D7D8-45E5-4BFF-96BA-837A49D7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1924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Design 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0ECCB-5733-4C58-9A3F-868C3C17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28825"/>
            <a:ext cx="2314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DNS/IPAM • PKI • OIDC groups • storage classes • GPU/driver matrix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DA5BB-71EC-4D3E-AFF7-DE504B15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733675"/>
            <a:ext cx="23526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95033-6C73-4DD4-9E40-50F38FCB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90825"/>
            <a:ext cx="2181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148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1">
                <a:solidFill>
                  <a:srgbClr val="102A36"/>
                </a:solidFill>
                <a:latin typeface="Helvetica Neue"/>
                <a:ea typeface="Helvetica Neue"/>
                <a:cs typeface="Helvetica Neue"/>
              </a:rPr>
              <a:t>EXIT GATE  Signed architecture + bill of materials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06302-D815-4EA9-9B15-6018F251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95425"/>
            <a:ext cx="26193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F6E9"/>
          </a:solidFill>
          <a:ln xmlns:a="http://schemas.openxmlformats.org/drawingml/2006/main" w="14288">
            <a:solidFill>
              <a:srgbClr val="30B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B15DE-3888-4B54-A64B-00C88D12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192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CCA00-31FA-43DF-A0D5-4629FA5B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28775"/>
            <a:ext cx="219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62E01-55C4-458F-8E4D-2462900F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19250"/>
            <a:ext cx="1924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Cluster foundation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0EAE7-BAE3-4F06-8F2A-50E058EB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28825"/>
            <a:ext cx="2314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SLES 16/SL Micro • RKE2 • Rancher Prime • downstream registration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7DC7F-6F91-460B-9AF0-3C2ED56B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33675"/>
            <a:ext cx="23526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0BA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AFA934-5E6A-4809-B7FF-5D823AC7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90825"/>
            <a:ext cx="2181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148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30B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1">
                <a:solidFill>
                  <a:srgbClr val="30BA78"/>
                </a:solidFill>
                <a:latin typeface="Helvetica Neue"/>
                <a:ea typeface="Helvetica Neue"/>
                <a:cs typeface="Helvetica Neue"/>
              </a:rPr>
              <a:t>EXIT GATE  HA, backup, restore and upgrade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A92DA-0999-438A-914F-A9760DC2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95425"/>
            <a:ext cx="26193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14288">
            <a:solidFill>
              <a:srgbClr val="D645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9BF26-A41F-4BCC-B023-C6EC8570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6192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EC5B27-923C-4BFD-B8A4-1F7D72DB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628775"/>
            <a:ext cx="219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3875AF-7A6B-47E2-B0C5-DC58256C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19250"/>
            <a:ext cx="1924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Security + telemetry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E05ABB-AC5F-4902-B83B-C64E5249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28825"/>
            <a:ext cx="2314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SUSE Security • Enforcers • OTel collectors • SUSE Observability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738EDA-5F18-4AB7-9B47-1682F31D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33675"/>
            <a:ext cx="23526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2FA657-B811-468A-B595-5C2889C2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90825"/>
            <a:ext cx="2181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148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D64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1">
                <a:solidFill>
                  <a:srgbClr val="D64545"/>
                </a:solidFill>
                <a:latin typeface="Helvetica Neue"/>
                <a:ea typeface="Helvetica Neue"/>
                <a:cs typeface="Helvetica Neue"/>
              </a:rPr>
              <a:t>EXIT GATE  Denied test image; correlated trace visible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6DC3F3-62F1-4528-B4C2-01E159DB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95425"/>
            <a:ext cx="26193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4FC"/>
          </a:solidFill>
          <a:ln xmlns:a="http://schemas.openxmlformats.org/drawingml/2006/main" w="14288">
            <a:solidFill>
              <a:srgbClr val="0B9F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47EE98-F22E-454A-83FF-B20190D9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192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FD4"/>
          </a:solidFill>
          <a:ln xmlns:a="http://schemas.openxmlformats.org/drawingml/2006/main" w="0">
            <a:solidFill>
              <a:srgbClr val="0B9F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7123E7-2844-4EEE-B139-B170C22E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28775"/>
            <a:ext cx="219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42C660-F95F-4FD7-B262-D8DF80EF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619250"/>
            <a:ext cx="1924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NVIDIA runtime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85939D-F0DA-42E1-826E-AF4633B0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28825"/>
            <a:ext cx="2314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GPU/Network Operators • Run:ai • NIM Operator • NIMCache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659501-AE4D-4271-A3F1-2AEBFFA4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33675"/>
            <a:ext cx="23526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9F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E55677-B5CD-44AD-B889-F00FA559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790825"/>
            <a:ext cx="2181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148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B9F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1">
                <a:solidFill>
                  <a:srgbClr val="0B9FD4"/>
                </a:solidFill>
                <a:latin typeface="Helvetica Neue"/>
                <a:ea typeface="Helvetica Neue"/>
                <a:cs typeface="Helvetica Neue"/>
              </a:rPr>
              <a:t>EXIT GATE  GPU health, cache ready, quota enforced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E624CB-59B4-419D-B90A-3BAE5746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514725"/>
            <a:ext cx="26193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E9FD"/>
          </a:solidFill>
          <a:ln xmlns:a="http://schemas.openxmlformats.org/drawingml/2006/main" w="14288">
            <a:solidFill>
              <a:srgbClr val="7C5CE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2B1B9F-5D88-41A7-B8BB-8D1883BE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6385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5CE4"/>
          </a:solidFill>
          <a:ln xmlns:a="http://schemas.openxmlformats.org/drawingml/2006/main" w="0">
            <a:solidFill>
              <a:srgbClr val="7C5C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A8B4CB-CCF8-4B35-8418-0E690B3D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48075"/>
            <a:ext cx="219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253A44-D0D5-4534-9A18-3842E6F1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924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Data services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2761E5-CB3A-4061-A3CD-1DEAB6AD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48125"/>
            <a:ext cx="2314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Qdrant/Milvus • OpenSearch • object storage • Retriever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20A40F-E5FD-4409-A94A-48E06A27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52975"/>
            <a:ext cx="23526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5CE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EE15B8-38B9-4DBE-9404-69E42B33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2181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148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7C5C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1">
                <a:solidFill>
                  <a:srgbClr val="7C5CE4"/>
                </a:solidFill>
                <a:latin typeface="Helvetica Neue"/>
                <a:ea typeface="Helvetica Neue"/>
                <a:cs typeface="Helvetica Neue"/>
              </a:rPr>
              <a:t>EXIT GATE  RAG quality baseline + backup restore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0604DB-1CD3-4E39-9AFF-30B289F5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14725"/>
            <a:ext cx="26193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4FC"/>
          </a:solidFill>
          <a:ln xmlns:a="http://schemas.openxmlformats.org/drawingml/2006/main" w="14288">
            <a:solidFill>
              <a:srgbClr val="0B9FD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25E013-89EE-407C-9DAF-8FB4B7C5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385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9FD4"/>
          </a:solidFill>
          <a:ln xmlns:a="http://schemas.openxmlformats.org/drawingml/2006/main" w="0">
            <a:solidFill>
              <a:srgbClr val="0B9FD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0F56E4-388C-48F1-BF9A-C9A8E057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48075"/>
            <a:ext cx="219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C31CBB-3D66-4749-9182-62631980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38550"/>
            <a:ext cx="1924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Inference routes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9D2571-A90E-4F04-8D7A-26A8B314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48125"/>
            <a:ext cx="2314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Nemotron NIM • Qwen vLLM endpoint • embedding/rerank • Switchyard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BC8461-2860-4D44-9B18-F9FF0A99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52975"/>
            <a:ext cx="23526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9FD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FA088E-B3DA-4F2E-A3A6-A23DD980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810125"/>
            <a:ext cx="2181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148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B9F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1">
                <a:solidFill>
                  <a:srgbClr val="0B9FD4"/>
                </a:solidFill>
                <a:latin typeface="Helvetica Neue"/>
                <a:ea typeface="Helvetica Neue"/>
                <a:cs typeface="Helvetica Neue"/>
              </a:rPr>
              <a:t>EXIT GATE  Golden prompts, latency and route evidence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AED536-F656-432C-B119-659A9FA6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14725"/>
            <a:ext cx="26193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2C9"/>
          </a:solidFill>
          <a:ln xmlns:a="http://schemas.openxmlformats.org/drawingml/2006/main" w="14288">
            <a:solidFill>
              <a:srgbClr val="ECA4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F2985C-E6D9-4BE3-8472-A4A99DF4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6385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A400"/>
          </a:solidFill>
          <a:ln xmlns:a="http://schemas.openxmlformats.org/drawingml/2006/main" w="0">
            <a:solidFill>
              <a:srgbClr val="ECA4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29F246-4AA3-4CAE-AF9A-78E1FED1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648075"/>
            <a:ext cx="219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E1D62E-B3F4-43CB-9F54-1B0D5D64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38550"/>
            <a:ext cx="1924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Agent control plane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9702D5-22A4-434D-9F50-C73A31AE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48125"/>
            <a:ext cx="2314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OpenShell • Hermes • function groups • Guardrails • Universal Proxy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3FB40F-BABF-4EFD-9693-5661AC0C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752975"/>
            <a:ext cx="23526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A4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79DC3C-5953-41F0-B43B-011E4D6E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10125"/>
            <a:ext cx="2181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148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ECA4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1">
                <a:solidFill>
                  <a:srgbClr val="ECA400"/>
                </a:solidFill>
                <a:latin typeface="Helvetica Neue"/>
                <a:ea typeface="Helvetica Neue"/>
                <a:cs typeface="Helvetica Neue"/>
              </a:rPr>
              <a:t>EXIT GATE  Policy denies unapproved egress/tool call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CC98C3-FDB6-4ECF-8189-E66AD8AA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14725"/>
            <a:ext cx="26193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F6E9"/>
          </a:solidFill>
          <a:ln xmlns:a="http://schemas.openxmlformats.org/drawingml/2006/main" w="14288">
            <a:solidFill>
              <a:srgbClr val="30BA7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DEA7A19-8B8F-42F2-852B-D6F5AECD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38550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BA78"/>
          </a:solidFill>
          <a:ln xmlns:a="http://schemas.openxmlformats.org/drawingml/2006/main" w="0">
            <a:solidFill>
              <a:srgbClr val="30BA7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5B5E239-D631-45CF-AA64-80C782F4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48075"/>
            <a:ext cx="219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9F92D8C-3036-490A-BB32-DC176E2A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38550"/>
            <a:ext cx="1924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418"/>
                </a:solidFill>
                <a:latin typeface="Helvetica Neue"/>
                <a:ea typeface="Helvetica Neue"/>
                <a:cs typeface="Helvetica Neue"/>
              </a:rPr>
              <a:t>Fleet integration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E8593F-AAEB-41A7-8148-C7492FA2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48125"/>
            <a:ext cx="2314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570"/>
                </a:solidFill>
                <a:latin typeface="Helvetica Neue"/>
                <a:ea typeface="Helvetica Neue"/>
                <a:cs typeface="Helvetica Neue"/>
              </a:rPr>
              <a:t>Uyuni MCP read tools • OAuth/mTLS • approvals • bounded write enablement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CAAF3EE-36E4-47ED-8EDB-2028A23E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52975"/>
            <a:ext cx="23526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0BA7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C8776EB-0709-4D15-9B18-6C670E63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810125"/>
            <a:ext cx="2181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148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30B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1">
                <a:solidFill>
                  <a:srgbClr val="30BA78"/>
                </a:solidFill>
                <a:latin typeface="Helvetica Neue"/>
                <a:ea typeface="Helvetica Neue"/>
                <a:cs typeface="Helvetica Neue"/>
              </a:rPr>
              <a:t>EXIT GATE  Canary patch, verify, rollback, full audit</a:t>
            </a:r>
          </a:p>
        </p:txBody>
      </p:sp>
      <p:cxnSp>
        <p:nvCxnSpPr>
          <p:cNvPr id="132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048000" y="2352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0BA78"/>
            </a:solidFill>
            <a:prstDash val="solid"/>
            <a:tailEnd type="triangle" w="sm" len="sm"/>
          </a:ln>
        </p:spPr>
      </p:cxnSp>
      <p:cxnSp>
        <p:nvCxnSpPr>
          <p:cNvPr id="133" name=""/>
          <p:cNvCxnSpPr>
            <a:stCxn xmlns:a="http://schemas.openxmlformats.org/drawingml/2006/main" id="11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953125" y="2352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4545"/>
            </a:solidFill>
            <a:prstDash val="solid"/>
            <a:tailEnd type="triangle" w="sm" len="sm"/>
          </a:ln>
        </p:spPr>
      </p:cxnSp>
      <p:cxnSp>
        <p:nvCxnSpPr>
          <p:cNvPr id="134" name=""/>
          <p:cNvCxnSpPr>
            <a:stCxn xmlns:a="http://schemas.openxmlformats.org/drawingml/2006/main" id="18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858250" y="2352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9FD4"/>
            </a:solidFill>
            <a:prstDash val="solid"/>
            <a:tailEnd type="triangle" w="sm" len="sm"/>
          </a:ln>
        </p:spPr>
      </p:cxnSp>
      <p:cxnSp>
        <p:nvCxnSpPr>
          <p:cNvPr id="135" name=""/>
          <p:cNvCxnSpPr>
            <a:stCxn xmlns:a="http://schemas.openxmlformats.org/drawingml/2006/main" id="25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1738313" y="3209925"/>
            <a:ext cx="8715375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C5CE4"/>
            </a:solidFill>
            <a:prstDash val="solid"/>
            <a:tailEnd type="triangle" w="sm" len="sm"/>
          </a:ln>
        </p:spPr>
      </p:cxnSp>
      <p:cxnSp>
        <p:nvCxnSpPr>
          <p:cNvPr id="136" name=""/>
          <p:cNvCxnSpPr>
            <a:stCxn xmlns:a="http://schemas.openxmlformats.org/drawingml/2006/main" id="32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3048000" y="43719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9FD4"/>
            </a:solidFill>
            <a:prstDash val="solid"/>
            <a:tailEnd type="triangle" w="sm" len="sm"/>
          </a:ln>
        </p:spPr>
      </p:cxnSp>
      <p:cxnSp>
        <p:nvCxnSpPr>
          <p:cNvPr id="137" name=""/>
          <p:cNvCxnSpPr>
            <a:stCxn xmlns:a="http://schemas.openxmlformats.org/drawingml/2006/main" id="39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5953125" y="43719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CA400"/>
            </a:solidFill>
            <a:prstDash val="solid"/>
            <a:tailEnd type="triangle" w="sm" len="sm"/>
          </a:ln>
        </p:spPr>
      </p:cxnSp>
      <p:cxnSp>
        <p:nvCxnSpPr>
          <p:cNvPr id="138" name=""/>
          <p:cNvCxnSpPr>
            <a:stCxn xmlns:a="http://schemas.openxmlformats.org/drawingml/2006/main" id="46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8858250" y="43719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0BA78"/>
            </a:solidFill>
            <a:prstDash val="solid"/>
            <a:tail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C5DF5D1-9E73-4D75-BC0E-42046D24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476875"/>
            <a:ext cx="11334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102A3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B52052C-51BD-42A1-8DF0-1702EEAB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022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FC7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FC7D0"/>
                </a:solidFill>
                <a:latin typeface="Helvetica Neue"/>
                <a:ea typeface="Helvetica Neue"/>
                <a:cs typeface="Helvetica Neue"/>
              </a:rPr>
              <a:t>PRODUCTION DEFINITION OF DONE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299D151-3568-4DDD-83E6-B8FC91A4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2143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 unapproved write path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7148796-8D83-49E0-A0BD-8E78A2F2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934075"/>
            <a:ext cx="2667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End-to-end trace + audit correlation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A3676DD-B0A1-44B5-8109-5ADFF6F8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934075"/>
            <a:ext cx="257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Backup / restore + rollback proven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3521FDB-41DA-4686-B72B-12B0B90A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934075"/>
            <a:ext cx="257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Load, failure and security tests passed</a:t>
            </a:r>
          </a:p>
        </p:txBody>
      </p:sp>
    </p:spTree>
    <p:extLst>
      <p:ext uri="{BB962C8B-B14F-4D97-AF65-F5344CB8AC3E}">
        <p14:creationId xmlns:p14="http://schemas.microsoft.com/office/powerpoint/2010/main" val="825438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2026-09-04T00:19:52.9870000Z</dcterms:created>
  <dcterms:modified xsi:type="dcterms:W3CDTF">2026-09-04T00:19:52.9870000Z</dcterms:modified>
</coreProperties>
</file>